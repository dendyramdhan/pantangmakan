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 nama app, jalur tim, dan lima nama Grup 5. Langsung ke cerita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tidak dinilai. Sebut nama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Isi pekerjaan dan peran sesuai kesepakatan grup, lalu tempel foto tim di kotak kanan.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dari cerita satu pengguna sungguhan sebelum fitur. Sebut nama dan pantangannya, jangan dikarang.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Dampak lain: pengguna bisa membedakan bahan dan kemungkinan sisa produksi. Nama Latin seperti arachis hypogaea dikenali sebagai kacang.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fitur diajarkan (Create ML, Foundation Models) dan satu dari side-app (baca teks dari foto). Semuanya jalan di perangkat.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foto, Vision membaca teks, Create ML memilah kalimat, daftar kata mencocokkan pantangan di kalimat bahan, Foundation Models menjelaskan. Tunjuk bagian HASIL AI saat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Pindah ke iPhone. Urutan: kacang dan pemanis jadi merah; Ubah ke garam, foto teh jadi hijau; foto wafer dengan dapat mengandung; foto depan kemasan ditolak.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unhappy path: izin kamera ditolak, muncul pesan dan tombol Buka Pengaturan.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foto dari Open Food Facts, tidak ikut data latih. Detail di validasi/HASIL.md.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Gagal kedua di versi lama: Oat M*lk, kacang terbaca dari catatan peralatan produksi. Batasnya: hanya 10 foto, dan bukan dari kamera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langkah saja. Jangan bahas bisnis atau pasar.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satu kalimat: berikutnya kami uji 30 kemasan dari kamera iPhone sendiri, lalu kalimat yang salah masuk ke data latih. Tidak ada slide penutup.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85A3C"/>
          </a:solidFill>
          <a:ln/>
        </p:spPr>
      </p:sp>
      <p:pic>
        <p:nvPicPr>
          <p:cNvPr id="3" name="Image 0" descr="Logo ScanBite">    </p:cNvPr>
          <p:cNvPicPr>
            <a:picLocks noChangeAspect="1"/>
          </p:cNvPicPr>
          <p:nvPr/>
        </p:nvPicPr>
        <p:blipFill>
          <a:blip r:embed="rId1"/>
          <a:stretch>
            <a:fillRect/>
          </a:stretch>
        </p:blipFill>
        <p:spPr>
          <a:xfrm>
            <a:off x="777240" y="502920"/>
            <a:ext cx="914400" cy="935518"/>
          </a:xfrm>
          <a:prstGeom prst="rect">
            <a:avLst/>
          </a:prstGeom>
        </p:spPr>
      </p:pic>
      <p:sp>
        <p:nvSpPr>
          <p:cNvPr id="4" name="Text 1"/>
          <p:cNvSpPr/>
          <p:nvPr/>
        </p:nvSpPr>
        <p:spPr>
          <a:xfrm>
            <a:off x="777240" y="1645920"/>
            <a:ext cx="6400800" cy="320040"/>
          </a:xfrm>
          <a:prstGeom prst="rect">
            <a:avLst/>
          </a:prstGeom>
          <a:noFill/>
          <a:ln/>
        </p:spPr>
        <p:txBody>
          <a:bodyPr wrap="square" lIns="0" tIns="0" rIns="0" bIns="0" rtlCol="0" anchor="ctr"/>
          <a:lstStyle/>
          <a:p>
            <a:pPr indent="0" marL="0">
              <a:buNone/>
            </a:pPr>
            <a:r>
              <a:rPr lang="en-US" sz="1600" dirty="0">
                <a:solidFill>
                  <a:srgbClr val="B85A3C"/>
                </a:solidFill>
                <a:latin typeface="Calibri" pitchFamily="34" charset="0"/>
                <a:ea typeface="Calibri" pitchFamily="34" charset="-122"/>
                <a:cs typeface="Calibri" pitchFamily="34" charset="-120"/>
              </a:rPr>
              <a:t>Jalur Tim  ·  Grup 5</a:t>
            </a:r>
            <a:endParaRPr lang="en-US" sz="1600" dirty="0"/>
          </a:p>
        </p:txBody>
      </p:sp>
      <p:sp>
        <p:nvSpPr>
          <p:cNvPr id="5" name="Text 2"/>
          <p:cNvSpPr/>
          <p:nvPr/>
        </p:nvSpPr>
        <p:spPr>
          <a:xfrm>
            <a:off x="777240" y="1965960"/>
            <a:ext cx="6400800" cy="960120"/>
          </a:xfrm>
          <a:prstGeom prst="rect">
            <a:avLst/>
          </a:prstGeom>
          <a:noFill/>
          <a:ln/>
        </p:spPr>
        <p:txBody>
          <a:bodyPr wrap="square" lIns="0" tIns="0" rIns="0" bIns="0" rtlCol="0" anchor="ctr"/>
          <a:lstStyle/>
          <a:p>
            <a:pPr indent="0" marL="0">
              <a:buNone/>
            </a:pPr>
            <a:r>
              <a:rPr lang="en-US" sz="6000" dirty="0">
                <a:solidFill>
                  <a:srgbClr val="1C1917"/>
                </a:solidFill>
                <a:latin typeface="Georgia" pitchFamily="34" charset="0"/>
                <a:ea typeface="Georgia" pitchFamily="34" charset="-122"/>
                <a:cs typeface="Georgia" pitchFamily="34" charset="-120"/>
              </a:rPr>
              <a:t>ScanBite.</a:t>
            </a:r>
            <a:endParaRPr lang="en-US" sz="6000" dirty="0"/>
          </a:p>
        </p:txBody>
      </p:sp>
      <p:sp>
        <p:nvSpPr>
          <p:cNvPr id="6" name="Text 3"/>
          <p:cNvSpPr/>
          <p:nvPr/>
        </p:nvSpPr>
        <p:spPr>
          <a:xfrm>
            <a:off x="777240" y="2971800"/>
            <a:ext cx="5943600" cy="457200"/>
          </a:xfrm>
          <a:prstGeom prst="rect">
            <a:avLst/>
          </a:prstGeom>
          <a:noFill/>
          <a:ln/>
        </p:spPr>
        <p:txBody>
          <a:bodyPr wrap="square" lIns="0" tIns="0" rIns="0" bIns="0" rtlCol="0" anchor="ctr"/>
          <a:lstStyle/>
          <a:p>
            <a:pPr indent="0" marL="0">
              <a:buNone/>
            </a:pPr>
            <a:r>
              <a:rPr lang="en-US" sz="2400" i="1" dirty="0">
                <a:solidFill>
                  <a:srgbClr val="B85A3C"/>
                </a:solidFill>
                <a:latin typeface="Georgia" pitchFamily="34" charset="0"/>
                <a:ea typeface="Georgia" pitchFamily="34" charset="-122"/>
                <a:cs typeface="Georgia" pitchFamily="34" charset="-120"/>
              </a:rPr>
              <a:t>Scan First, Eat Safer</a:t>
            </a:r>
            <a:endParaRPr lang="en-US" sz="2400" dirty="0"/>
          </a:p>
        </p:txBody>
      </p:sp>
      <p:sp>
        <p:nvSpPr>
          <p:cNvPr id="7" name="Text 4"/>
          <p:cNvSpPr/>
          <p:nvPr/>
        </p:nvSpPr>
        <p:spPr>
          <a:xfrm>
            <a:off x="777240" y="3520440"/>
            <a:ext cx="5943600" cy="548640"/>
          </a:xfrm>
          <a:prstGeom prst="rect">
            <a:avLst/>
          </a:prstGeom>
          <a:noFill/>
          <a:ln/>
        </p:spPr>
        <p:txBody>
          <a:bodyPr wrap="square" lIns="0" tIns="0" rIns="0" bIns="0" rtlCol="0" anchor="t"/>
          <a:lstStyle/>
          <a:p>
            <a:pPr indent="0" marL="0">
              <a:buNone/>
            </a:pPr>
            <a:r>
              <a:rPr lang="en-US" sz="1700" dirty="0">
                <a:solidFill>
                  <a:srgbClr val="6B6560"/>
                </a:solidFill>
                <a:latin typeface="Calibri" pitchFamily="34" charset="0"/>
                <a:ea typeface="Calibri" pitchFamily="34" charset="-122"/>
                <a:cs typeface="Calibri" pitchFamily="34" charset="-120"/>
              </a:rPr>
              <a:t>Foto komposisinya, langsung tahu ada pantanganmu atau tidak.</a:t>
            </a:r>
            <a:endParaRPr lang="en-US" sz="1700" dirty="0"/>
          </a:p>
        </p:txBody>
      </p:sp>
      <p:sp>
        <p:nvSpPr>
          <p:cNvPr id="8" name="Text 5"/>
          <p:cNvSpPr/>
          <p:nvPr/>
        </p:nvSpPr>
        <p:spPr>
          <a:xfrm>
            <a:off x="777240" y="4343400"/>
            <a:ext cx="5486400" cy="1737360"/>
          </a:xfrm>
          <a:prstGeom prst="rect">
            <a:avLst/>
          </a:prstGeom>
          <a:noFill/>
          <a:ln/>
        </p:spPr>
        <p:txBody>
          <a:bodyPr wrap="square" lIns="0" tIns="0" rIns="0" bIns="0" rtlCol="0" anchor="t"/>
          <a:lstStyle/>
          <a:p>
            <a:pPr indent="0" marL="0">
              <a:spcAft>
                <a:spcPts val="300"/>
              </a:spcAft>
              <a:buNone/>
            </a:pPr>
            <a:r>
              <a:rPr lang="en-US" sz="1500" dirty="0">
                <a:solidFill>
                  <a:srgbClr val="1C1917"/>
                </a:solidFill>
                <a:latin typeface="Calibri" pitchFamily="34" charset="0"/>
                <a:ea typeface="Calibri" pitchFamily="34" charset="-122"/>
                <a:cs typeface="Calibri" pitchFamily="34" charset="-120"/>
              </a:rPr>
              <a:t>Muhammad Fajar Wira Azdi</a:t>
            </a:r>
            <a:endParaRPr lang="en-US" sz="1500" dirty="0"/>
          </a:p>
          <a:p>
            <a:pPr indent="0" marL="0">
              <a:spcAft>
                <a:spcPts val="300"/>
              </a:spcAft>
              <a:buNone/>
            </a:pPr>
            <a:r>
              <a:rPr lang="en-US" sz="1500" dirty="0">
                <a:solidFill>
                  <a:srgbClr val="1C1917"/>
                </a:solidFill>
                <a:latin typeface="Calibri" pitchFamily="34" charset="0"/>
                <a:ea typeface="Calibri" pitchFamily="34" charset="-122"/>
                <a:cs typeface="Calibri" pitchFamily="34" charset="-120"/>
              </a:rPr>
              <a:t>Ahmad Syafiq Kamil</a:t>
            </a:r>
            <a:endParaRPr lang="en-US" sz="1500" dirty="0"/>
          </a:p>
          <a:p>
            <a:pPr indent="0" marL="0">
              <a:spcAft>
                <a:spcPts val="300"/>
              </a:spcAft>
              <a:buNone/>
            </a:pPr>
            <a:r>
              <a:rPr lang="en-US" sz="1500" dirty="0">
                <a:solidFill>
                  <a:srgbClr val="1C1917"/>
                </a:solidFill>
                <a:latin typeface="Calibri" pitchFamily="34" charset="0"/>
                <a:ea typeface="Calibri" pitchFamily="34" charset="-122"/>
                <a:cs typeface="Calibri" pitchFamily="34" charset="-120"/>
              </a:rPr>
              <a:t>Dendy Ramdhan Fauzy</a:t>
            </a:r>
            <a:endParaRPr lang="en-US" sz="1500" dirty="0"/>
          </a:p>
          <a:p>
            <a:pPr indent="0" marL="0">
              <a:spcAft>
                <a:spcPts val="300"/>
              </a:spcAft>
              <a:buNone/>
            </a:pPr>
            <a:r>
              <a:rPr lang="en-US" sz="1500" dirty="0">
                <a:solidFill>
                  <a:srgbClr val="1C1917"/>
                </a:solidFill>
                <a:latin typeface="Calibri" pitchFamily="34" charset="0"/>
                <a:ea typeface="Calibri" pitchFamily="34" charset="-122"/>
                <a:cs typeface="Calibri" pitchFamily="34" charset="-120"/>
              </a:rPr>
              <a:t>Mohamad Arrizal</a:t>
            </a:r>
            <a:endParaRPr lang="en-US" sz="1500" dirty="0"/>
          </a:p>
          <a:p>
            <a:pPr indent="0" marL="0">
              <a:spcAft>
                <a:spcPts val="300"/>
              </a:spcAft>
              <a:buNone/>
            </a:pPr>
            <a:r>
              <a:rPr lang="en-US" sz="1500" dirty="0">
                <a:solidFill>
                  <a:srgbClr val="1C1917"/>
                </a:solidFill>
                <a:latin typeface="Calibri" pitchFamily="34" charset="0"/>
                <a:ea typeface="Calibri" pitchFamily="34" charset="-122"/>
                <a:cs typeface="Calibri" pitchFamily="34" charset="-120"/>
              </a:rPr>
              <a:t>Zuber Khatib</a:t>
            </a:r>
            <a:endParaRPr lang="en-US" sz="1500" dirty="0"/>
          </a:p>
        </p:txBody>
      </p:sp>
      <p:pic>
        <p:nvPicPr>
          <p:cNvPr id="9" name="Image 1" descr="Layar hasil ScanBite: Ada kacang dan pemanis di komposisi ini">    </p:cNvPr>
          <p:cNvPicPr>
            <a:picLocks noChangeAspect="1"/>
          </p:cNvPicPr>
          <p:nvPr/>
        </p:nvPicPr>
        <p:blipFill>
          <a:blip r:embed="rId2"/>
          <a:stretch>
            <a:fillRect/>
          </a:stretch>
        </p:blipFill>
        <p:spPr>
          <a:xfrm>
            <a:off x="8321040" y="502920"/>
            <a:ext cx="2695074" cy="5852160"/>
          </a:xfrm>
          <a:prstGeom prst="rect">
            <a:avLst/>
          </a:prstGeom>
        </p:spPr>
      </p:pic>
      <p:sp>
        <p:nvSpPr>
          <p:cNvPr id="10" name="Shape 6"/>
          <p:cNvSpPr/>
          <p:nvPr/>
        </p:nvSpPr>
        <p:spPr>
          <a:xfrm>
            <a:off x="8321040" y="502920"/>
            <a:ext cx="2695074" cy="5852160"/>
          </a:xfrm>
          <a:prstGeom prst="roundRect">
            <a:avLst>
              <a:gd name="adj" fmla="val 6107"/>
            </a:avLst>
          </a:prstGeom>
          <a:ln w="12700">
            <a:solidFill>
              <a:srgbClr val="E4DDD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85A3C"/>
          </a:solidFill>
          <a:ln/>
        </p:spPr>
      </p:sp>
      <p:sp>
        <p:nvSpPr>
          <p:cNvPr id="3" name="Text 1"/>
          <p:cNvSpPr/>
          <p:nvPr/>
        </p:nvSpPr>
        <p:spPr>
          <a:xfrm>
            <a:off x="777240" y="1828800"/>
            <a:ext cx="2743200" cy="822960"/>
          </a:xfrm>
          <a:prstGeom prst="rect">
            <a:avLst/>
          </a:prstGeom>
          <a:noFill/>
          <a:ln/>
        </p:spPr>
        <p:txBody>
          <a:bodyPr wrap="square" lIns="0" tIns="0" rIns="0" bIns="0" rtlCol="0" anchor="ctr"/>
          <a:lstStyle/>
          <a:p>
            <a:pPr indent="0" marL="0">
              <a:buNone/>
            </a:pPr>
            <a:r>
              <a:rPr lang="en-US" sz="5400" dirty="0">
                <a:solidFill>
                  <a:srgbClr val="B85A3C"/>
                </a:solidFill>
                <a:latin typeface="Georgia" pitchFamily="34" charset="0"/>
                <a:ea typeface="Georgia" pitchFamily="34" charset="-122"/>
                <a:cs typeface="Georgia" pitchFamily="34" charset="-120"/>
              </a:rPr>
              <a:t>01</a:t>
            </a:r>
            <a:endParaRPr lang="en-US" sz="5400" dirty="0"/>
          </a:p>
        </p:txBody>
      </p:sp>
      <p:sp>
        <p:nvSpPr>
          <p:cNvPr id="4" name="Text 2"/>
          <p:cNvSpPr/>
          <p:nvPr/>
        </p:nvSpPr>
        <p:spPr>
          <a:xfrm>
            <a:off x="777240" y="2743200"/>
            <a:ext cx="6035040" cy="1097280"/>
          </a:xfrm>
          <a:prstGeom prst="rect">
            <a:avLst/>
          </a:prstGeom>
          <a:noFill/>
          <a:ln/>
        </p:spPr>
        <p:txBody>
          <a:bodyPr wrap="square" lIns="0" tIns="0" rIns="0" bIns="0" rtlCol="0" anchor="t"/>
          <a:lstStyle/>
          <a:p>
            <a:pPr indent="0" marL="0">
              <a:buNone/>
            </a:pPr>
            <a:r>
              <a:rPr lang="en-US" sz="3800" dirty="0">
                <a:solidFill>
                  <a:srgbClr val="1C1917"/>
                </a:solidFill>
                <a:latin typeface="Georgia" pitchFamily="34" charset="0"/>
                <a:ea typeface="Georgia" pitchFamily="34" charset="-122"/>
                <a:cs typeface="Georgia" pitchFamily="34" charset="-120"/>
              </a:rPr>
              <a:t>Tim Kami</a:t>
            </a:r>
            <a:endParaRPr lang="en-US" sz="3800" dirty="0"/>
          </a:p>
        </p:txBody>
      </p:sp>
      <p:sp>
        <p:nvSpPr>
          <p:cNvPr id="5" name="Text 3"/>
          <p:cNvSpPr/>
          <p:nvPr/>
        </p:nvSpPr>
        <p:spPr>
          <a:xfrm>
            <a:off x="777240" y="3977640"/>
            <a:ext cx="5669280" cy="914400"/>
          </a:xfrm>
          <a:prstGeom prst="rect">
            <a:avLst/>
          </a:prstGeom>
          <a:noFill/>
          <a:ln/>
        </p:spPr>
        <p:txBody>
          <a:bodyPr wrap="square" lIns="0" tIns="0" rIns="0" bIns="0" rtlCol="0" anchor="t"/>
          <a:lstStyle/>
          <a:p>
            <a:pPr indent="0" marL="0">
              <a:buNone/>
            </a:pPr>
            <a:r>
              <a:rPr lang="en-US" sz="1800" dirty="0">
                <a:solidFill>
                  <a:srgbClr val="6B6560"/>
                </a:solidFill>
                <a:latin typeface="Calibri" pitchFamily="34" charset="0"/>
                <a:ea typeface="Calibri" pitchFamily="34" charset="-122"/>
                <a:cs typeface="Calibri" pitchFamily="34" charset="-120"/>
              </a:rPr>
              <a:t>Lima anggota, satu app.</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502920" y="320040"/>
            <a:ext cx="11155680" cy="548640"/>
          </a:xfrm>
          <a:prstGeom prst="rect">
            <a:avLst/>
          </a:prstGeom>
          <a:noFill/>
          <a:ln/>
        </p:spPr>
        <p:txBody>
          <a:bodyPr wrap="square" lIns="0" tIns="0" rIns="0" bIns="0" rtlCol="0" anchor="ctr"/>
          <a:lstStyle/>
          <a:p>
            <a:pPr indent="0" marL="0">
              <a:buNone/>
            </a:pPr>
            <a:r>
              <a:rPr lang="en-US" sz="3200" dirty="0">
                <a:solidFill>
                  <a:srgbClr val="1C1917"/>
                </a:solidFill>
                <a:latin typeface="Georgia" pitchFamily="34" charset="0"/>
                <a:ea typeface="Georgia" pitchFamily="34" charset="-122"/>
                <a:cs typeface="Georgia" pitchFamily="34" charset="-120"/>
              </a:rPr>
              <a:t>Tim Kami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7680960" cy="4206240"/>
        </p:xfrm>
        <a:graphic>
          <a:graphicData uri="http://schemas.openxmlformats.org/drawingml/2006/table">
            <a:tbl>
              <a:tblPr/>
              <a:tblGrid>
                <a:gridCol w="3291840"/>
                <a:gridCol w="2194560"/>
                <a:gridCol w="2194560"/>
              </a:tblGrid>
              <a:tr h="7010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Nama</a:t>
                      </a:r>
                      <a:endParaRPr lang="en-US" sz="13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2B2B2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Pekerjaan saat ini</a:t>
                      </a:r>
                      <a:endParaRPr lang="en-US" sz="13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2B2B2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Peran di tim</a:t>
                      </a:r>
                      <a:endParaRPr lang="en-US" sz="13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2B2B28"/>
                    </a:solidFill>
                  </a:tcPr>
                </a:tc>
              </a:tr>
              <a:tr h="701040">
                <a:tc>
                  <a:txBody>
                    <a:bodyPr/>
                    <a:lstStyle/>
                    <a:p>
                      <a:pPr indent="0" marL="0">
                        <a:buNone/>
                      </a:pPr>
                      <a:r>
                        <a:rPr lang="en-US" sz="1500" dirty="0">
                          <a:solidFill>
                            <a:srgbClr val="1C1917"/>
                          </a:solidFill>
                          <a:latin typeface="Calibri" pitchFamily="34" charset="0"/>
                          <a:ea typeface="Calibri" pitchFamily="34" charset="-122"/>
                          <a:cs typeface="Calibri" pitchFamily="34" charset="-120"/>
                        </a:rPr>
                        <a:t>Muhammad Fajar Wira Azdi</a:t>
                      </a: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c>
                  <a:txBody>
                    <a:bodyPr/>
                    <a:lstStyle/>
                    <a:p>
                      <a:pPr indent="0" marL="0">
                        <a:buNone/>
                      </a:pP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c>
                  <a:txBody>
                    <a:bodyPr/>
                    <a:lstStyle/>
                    <a:p>
                      <a:pPr indent="0" marL="0">
                        <a:buNone/>
                      </a:pP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r>
              <a:tr h="701040">
                <a:tc>
                  <a:txBody>
                    <a:bodyPr/>
                    <a:lstStyle/>
                    <a:p>
                      <a:pPr indent="0" marL="0">
                        <a:buNone/>
                      </a:pPr>
                      <a:r>
                        <a:rPr lang="en-US" sz="1500" dirty="0">
                          <a:solidFill>
                            <a:srgbClr val="1C1917"/>
                          </a:solidFill>
                          <a:latin typeface="Calibri" pitchFamily="34" charset="0"/>
                          <a:ea typeface="Calibri" pitchFamily="34" charset="-122"/>
                          <a:cs typeface="Calibri" pitchFamily="34" charset="-120"/>
                        </a:rPr>
                        <a:t>Ahmad Syafiq Kamil</a:t>
                      </a: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c>
                  <a:txBody>
                    <a:bodyPr/>
                    <a:lstStyle/>
                    <a:p>
                      <a:pPr indent="0" marL="0">
                        <a:buNone/>
                      </a:pP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c>
                  <a:txBody>
                    <a:bodyPr/>
                    <a:lstStyle/>
                    <a:p>
                      <a:pPr indent="0" marL="0">
                        <a:buNone/>
                      </a:pP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r>
              <a:tr h="701040">
                <a:tc>
                  <a:txBody>
                    <a:bodyPr/>
                    <a:lstStyle/>
                    <a:p>
                      <a:pPr indent="0" marL="0">
                        <a:buNone/>
                      </a:pPr>
                      <a:r>
                        <a:rPr lang="en-US" sz="1500" dirty="0">
                          <a:solidFill>
                            <a:srgbClr val="1C1917"/>
                          </a:solidFill>
                          <a:latin typeface="Calibri" pitchFamily="34" charset="0"/>
                          <a:ea typeface="Calibri" pitchFamily="34" charset="-122"/>
                          <a:cs typeface="Calibri" pitchFamily="34" charset="-120"/>
                        </a:rPr>
                        <a:t>Dendy Ramdhan Fauzy</a:t>
                      </a: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c>
                  <a:txBody>
                    <a:bodyPr/>
                    <a:lstStyle/>
                    <a:p>
                      <a:pPr indent="0" marL="0">
                        <a:buNone/>
                      </a:pP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c>
                  <a:txBody>
                    <a:bodyPr/>
                    <a:lstStyle/>
                    <a:p>
                      <a:pPr indent="0" marL="0">
                        <a:buNone/>
                      </a:pP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r>
              <a:tr h="701040">
                <a:tc>
                  <a:txBody>
                    <a:bodyPr/>
                    <a:lstStyle/>
                    <a:p>
                      <a:pPr indent="0" marL="0">
                        <a:buNone/>
                      </a:pPr>
                      <a:r>
                        <a:rPr lang="en-US" sz="1500" dirty="0">
                          <a:solidFill>
                            <a:srgbClr val="1C1917"/>
                          </a:solidFill>
                          <a:latin typeface="Calibri" pitchFamily="34" charset="0"/>
                          <a:ea typeface="Calibri" pitchFamily="34" charset="-122"/>
                          <a:cs typeface="Calibri" pitchFamily="34" charset="-120"/>
                        </a:rPr>
                        <a:t>Mohamad Arrizal</a:t>
                      </a: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c>
                  <a:txBody>
                    <a:bodyPr/>
                    <a:lstStyle/>
                    <a:p>
                      <a:pPr indent="0" marL="0">
                        <a:buNone/>
                      </a:pP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c>
                  <a:txBody>
                    <a:bodyPr/>
                    <a:lstStyle/>
                    <a:p>
                      <a:pPr indent="0" marL="0">
                        <a:buNone/>
                      </a:pP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r>
              <a:tr h="701040">
                <a:tc>
                  <a:txBody>
                    <a:bodyPr/>
                    <a:lstStyle/>
                    <a:p>
                      <a:pPr indent="0" marL="0">
                        <a:buNone/>
                      </a:pPr>
                      <a:r>
                        <a:rPr lang="en-US" sz="1500" dirty="0">
                          <a:solidFill>
                            <a:srgbClr val="1C1917"/>
                          </a:solidFill>
                          <a:latin typeface="Calibri" pitchFamily="34" charset="0"/>
                          <a:ea typeface="Calibri" pitchFamily="34" charset="-122"/>
                          <a:cs typeface="Calibri" pitchFamily="34" charset="-120"/>
                        </a:rPr>
                        <a:t>Zuber Khatib</a:t>
                      </a: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c>
                  <a:txBody>
                    <a:bodyPr/>
                    <a:lstStyle/>
                    <a:p>
                      <a:pPr indent="0" marL="0">
                        <a:buNone/>
                      </a:pP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c>
                  <a:txBody>
                    <a:bodyPr/>
                    <a:lstStyle/>
                    <a:p>
                      <a:pPr indent="0" marL="0">
                        <a:buNone/>
                      </a:pPr>
                      <a:endParaRPr lang="en-US" sz="1500" dirty="0">
                        <a:latin typeface="Calibri" charset="0"/>
                        <a:ea typeface="Calibri" charset="0"/>
                        <a:cs typeface="Calibri" charset="0"/>
                      </a:endParaRPr>
                    </a:p>
                  </a:txBody>
                  <a:tcPr marL="91440" marR="91440" marT="45720" marB="45720" anchor="ctr">
                    <a:lnL w="6350" cap="flat" cmpd="sng" algn="ctr">
                      <a:solidFill>
                        <a:srgbClr val="E4DDD4"/>
                      </a:solidFill>
                      <a:prstDash val="solid"/>
                      <a:round/>
                      <a:headEnd type="none" w="med" len="med"/>
                      <a:tailEnd type="none" w="med" len="med"/>
                    </a:lnL>
                    <a:lnR w="6350" cap="flat" cmpd="sng" algn="ctr">
                      <a:solidFill>
                        <a:srgbClr val="E4DDD4"/>
                      </a:solidFill>
                      <a:prstDash val="solid"/>
                      <a:round/>
                      <a:headEnd type="none" w="med" len="med"/>
                      <a:tailEnd type="none" w="med" len="med"/>
                    </a:lnR>
                    <a:lnT w="6350" cap="flat" cmpd="sng" algn="ctr">
                      <a:solidFill>
                        <a:srgbClr val="E4DDD4"/>
                      </a:solidFill>
                      <a:prstDash val="solid"/>
                      <a:round/>
                      <a:headEnd type="none" w="med" len="med"/>
                      <a:tailEnd type="none" w="med" len="med"/>
                    </a:lnT>
                    <a:lnB w="6350" cap="flat" cmpd="sng" algn="ctr">
                      <a:solidFill>
                        <a:srgbClr val="E4DDD4"/>
                      </a:solidFill>
                      <a:prstDash val="solid"/>
                      <a:round/>
                      <a:headEnd type="none" w="med" len="med"/>
                      <a:tailEnd type="none" w="med" len="med"/>
                    </a:lnB>
                    <a:solidFill>
                      <a:srgbClr val="FFFCF8"/>
                    </a:solidFill>
                  </a:tcPr>
                </a:tc>
              </a:tr>
            </a:tbl>
          </a:graphicData>
        </a:graphic>
      </p:graphicFrame>
      <p:sp>
        <p:nvSpPr>
          <p:cNvPr id="4" name="Shape 1"/>
          <p:cNvSpPr/>
          <p:nvPr/>
        </p:nvSpPr>
        <p:spPr>
          <a:xfrm>
            <a:off x="8503920" y="1143000"/>
            <a:ext cx="3200400" cy="4206240"/>
          </a:xfrm>
          <a:prstGeom prst="roundRect">
            <a:avLst>
              <a:gd name="adj" fmla="val 3429"/>
            </a:avLst>
          </a:prstGeom>
          <a:solidFill>
            <a:srgbClr val="FFFCF8"/>
          </a:solidFill>
          <a:ln w="9525">
            <a:solidFill>
              <a:srgbClr val="E4DDD4"/>
            </a:solidFill>
            <a:prstDash val="solid"/>
          </a:ln>
        </p:spPr>
      </p:sp>
      <p:sp>
        <p:nvSpPr>
          <p:cNvPr id="5" name="Text 2"/>
          <p:cNvSpPr/>
          <p:nvPr/>
        </p:nvSpPr>
        <p:spPr>
          <a:xfrm>
            <a:off x="8503920" y="3017520"/>
            <a:ext cx="3200400" cy="365760"/>
          </a:xfrm>
          <a:prstGeom prst="rect">
            <a:avLst/>
          </a:prstGeom>
          <a:noFill/>
          <a:ln/>
        </p:spPr>
        <p:txBody>
          <a:bodyPr wrap="square" lIns="0" tIns="0" rIns="0" bIns="0" rtlCol="0" anchor="ctr"/>
          <a:lstStyle/>
          <a:p>
            <a:pPr algn="ctr" indent="0" marL="0">
              <a:buNone/>
            </a:pPr>
            <a:r>
              <a:rPr lang="en-US" sz="1400" dirty="0">
                <a:solidFill>
                  <a:srgbClr val="6B6560"/>
                </a:solidFill>
                <a:latin typeface="Calibri" pitchFamily="34" charset="0"/>
                <a:ea typeface="Calibri" pitchFamily="34" charset="-122"/>
                <a:cs typeface="Calibri" pitchFamily="34" charset="-120"/>
              </a:rPr>
              <a:t>Foto tim</a:t>
            </a:r>
            <a:endParaRPr lang="en-US" sz="1400" dirty="0"/>
          </a:p>
        </p:txBody>
      </p:sp>
      <p:sp>
        <p:nvSpPr>
          <p:cNvPr id="6" name="Text 3"/>
          <p:cNvSpPr/>
          <p:nvPr/>
        </p:nvSpPr>
        <p:spPr>
          <a:xfrm>
            <a:off x="502920" y="6446520"/>
            <a:ext cx="7315200" cy="228600"/>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Grup 5  ·  ScanBite  ·  Jalur Tim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85A3C"/>
          </a:solidFill>
          <a:ln/>
        </p:spPr>
      </p:sp>
      <p:sp>
        <p:nvSpPr>
          <p:cNvPr id="3" name="Text 1"/>
          <p:cNvSpPr/>
          <p:nvPr/>
        </p:nvSpPr>
        <p:spPr>
          <a:xfrm>
            <a:off x="777240" y="1828800"/>
            <a:ext cx="2743200" cy="822960"/>
          </a:xfrm>
          <a:prstGeom prst="rect">
            <a:avLst/>
          </a:prstGeom>
          <a:noFill/>
          <a:ln/>
        </p:spPr>
        <p:txBody>
          <a:bodyPr wrap="square" lIns="0" tIns="0" rIns="0" bIns="0" rtlCol="0" anchor="ctr"/>
          <a:lstStyle/>
          <a:p>
            <a:pPr indent="0" marL="0">
              <a:buNone/>
            </a:pPr>
            <a:r>
              <a:rPr lang="en-US" sz="5400" dirty="0">
                <a:solidFill>
                  <a:srgbClr val="B85A3C"/>
                </a:solidFill>
                <a:latin typeface="Georgia" pitchFamily="34" charset="0"/>
                <a:ea typeface="Georgia" pitchFamily="34" charset="-122"/>
                <a:cs typeface="Georgia" pitchFamily="34" charset="-120"/>
              </a:rPr>
              <a:t>02</a:t>
            </a:r>
            <a:endParaRPr lang="en-US" sz="5400" dirty="0"/>
          </a:p>
        </p:txBody>
      </p:sp>
      <p:sp>
        <p:nvSpPr>
          <p:cNvPr id="4" name="Text 2"/>
          <p:cNvSpPr/>
          <p:nvPr/>
        </p:nvSpPr>
        <p:spPr>
          <a:xfrm>
            <a:off x="777240" y="2743200"/>
            <a:ext cx="6035040" cy="1097280"/>
          </a:xfrm>
          <a:prstGeom prst="rect">
            <a:avLst/>
          </a:prstGeom>
          <a:noFill/>
          <a:ln/>
        </p:spPr>
        <p:txBody>
          <a:bodyPr wrap="square" lIns="0" tIns="0" rIns="0" bIns="0" rtlCol="0" anchor="t"/>
          <a:lstStyle/>
          <a:p>
            <a:pPr indent="0" marL="0">
              <a:buNone/>
            </a:pPr>
            <a:r>
              <a:rPr lang="en-US" sz="3800" dirty="0">
                <a:solidFill>
                  <a:srgbClr val="1C1917"/>
                </a:solidFill>
                <a:latin typeface="Georgia" pitchFamily="34" charset="0"/>
                <a:ea typeface="Georgia" pitchFamily="34" charset="-122"/>
                <a:cs typeface="Georgia" pitchFamily="34" charset="-120"/>
              </a:rPr>
              <a:t>Masalah yang Kami Selesaikan</a:t>
            </a:r>
            <a:endParaRPr lang="en-US" sz="3800" dirty="0"/>
          </a:p>
        </p:txBody>
      </p:sp>
      <p:sp>
        <p:nvSpPr>
          <p:cNvPr id="5" name="Text 3"/>
          <p:cNvSpPr/>
          <p:nvPr/>
        </p:nvSpPr>
        <p:spPr>
          <a:xfrm>
            <a:off x="777240" y="3977640"/>
            <a:ext cx="5669280" cy="914400"/>
          </a:xfrm>
          <a:prstGeom prst="rect">
            <a:avLst/>
          </a:prstGeom>
          <a:noFill/>
          <a:ln/>
        </p:spPr>
        <p:txBody>
          <a:bodyPr wrap="square" lIns="0" tIns="0" rIns="0" bIns="0" rtlCol="0" anchor="t"/>
          <a:lstStyle/>
          <a:p>
            <a:pPr indent="0" marL="0">
              <a:buNone/>
            </a:pPr>
            <a:r>
              <a:rPr lang="en-US" sz="1800" dirty="0">
                <a:solidFill>
                  <a:srgbClr val="6B6560"/>
                </a:solidFill>
                <a:latin typeface="Calibri" pitchFamily="34" charset="0"/>
                <a:ea typeface="Calibri" pitchFamily="34" charset="-122"/>
                <a:cs typeface="Calibri" pitchFamily="34" charset="-120"/>
              </a:rPr>
              <a:t>Huruf komposisi terlalu kecil, dan label mencampur bahan dengan peringatan.</a:t>
            </a:r>
            <a:endParaRPr lang="en-US" sz="1800" dirty="0"/>
          </a:p>
        </p:txBody>
      </p:sp>
      <p:pic>
        <p:nvPicPr>
          <p:cNvPr id="6" name="Image 0" descr="Foto label komposisi Superco">    </p:cNvPr>
          <p:cNvPicPr>
            <a:picLocks noChangeAspect="1"/>
          </p:cNvPicPr>
          <p:nvPr/>
        </p:nvPicPr>
        <p:blipFill>
          <a:blip r:embed="rId1"/>
          <a:stretch>
            <a:fillRect/>
          </a:stretch>
        </p:blipFill>
        <p:spPr>
          <a:xfrm>
            <a:off x="6949440" y="1737360"/>
            <a:ext cx="4754880" cy="3083498"/>
          </a:xfrm>
          <a:prstGeom prst="rect">
            <a:avLst/>
          </a:prstGeom>
        </p:spPr>
      </p:pic>
      <p:sp>
        <p:nvSpPr>
          <p:cNvPr id="7" name="Text 4"/>
          <p:cNvSpPr/>
          <p:nvPr/>
        </p:nvSpPr>
        <p:spPr>
          <a:xfrm>
            <a:off x="6949440" y="4864608"/>
            <a:ext cx="4754880" cy="228600"/>
          </a:xfrm>
          <a:prstGeom prst="rect">
            <a:avLst/>
          </a:prstGeom>
          <a:noFill/>
          <a:ln/>
        </p:spPr>
        <p:txBody>
          <a:bodyPr wrap="square" lIns="0" tIns="0" rIns="0" bIns="0" rtlCol="0" anchor="ctr"/>
          <a:lstStyle/>
          <a:p>
            <a:pPr algn="r" indent="0" marL="0">
              <a:buNone/>
            </a:pPr>
            <a:r>
              <a:rPr lang="en-US" sz="1000" dirty="0">
                <a:solidFill>
                  <a:srgbClr val="6B6560"/>
                </a:solidFill>
                <a:latin typeface="Calibri" pitchFamily="34" charset="0"/>
                <a:ea typeface="Calibri" pitchFamily="34" charset="-122"/>
                <a:cs typeface="Calibri" pitchFamily="34" charset="-120"/>
              </a:rPr>
              <a:t>Label Superco. Foto: Open Food Facts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502920" y="320040"/>
            <a:ext cx="11155680" cy="548640"/>
          </a:xfrm>
          <a:prstGeom prst="rect">
            <a:avLst/>
          </a:prstGeom>
          <a:noFill/>
          <a:ln/>
        </p:spPr>
        <p:txBody>
          <a:bodyPr wrap="square" lIns="0" tIns="0" rIns="0" bIns="0" rtlCol="0" anchor="ctr"/>
          <a:lstStyle/>
          <a:p>
            <a:pPr indent="0" marL="0">
              <a:buNone/>
            </a:pPr>
            <a:r>
              <a:rPr lang="en-US" sz="3200" dirty="0">
                <a:solidFill>
                  <a:srgbClr val="1C1917"/>
                </a:solidFill>
                <a:latin typeface="Georgia" pitchFamily="34" charset="0"/>
                <a:ea typeface="Georgia" pitchFamily="34" charset="-122"/>
                <a:cs typeface="Georgia" pitchFamily="34" charset="-120"/>
              </a:rPr>
              <a:t>Masalah yang Kami Selesaikan</a:t>
            </a:r>
            <a:endParaRPr lang="en-US" sz="3200" dirty="0"/>
          </a:p>
        </p:txBody>
      </p:sp>
      <p:sp>
        <p:nvSpPr>
          <p:cNvPr id="3" name="Text 1"/>
          <p:cNvSpPr/>
          <p:nvPr/>
        </p:nvSpPr>
        <p:spPr>
          <a:xfrm>
            <a:off x="502920" y="1097280"/>
            <a:ext cx="5852160" cy="274320"/>
          </a:xfrm>
          <a:prstGeom prst="rect">
            <a:avLst/>
          </a:prstGeom>
          <a:noFill/>
          <a:ln/>
        </p:spPr>
        <p:txBody>
          <a:bodyPr wrap="square" lIns="0" tIns="0" rIns="0" bIns="0" rtlCol="0" anchor="ctr"/>
          <a:lstStyle/>
          <a:p>
            <a:pPr indent="0" marL="0">
              <a:buNone/>
            </a:pPr>
            <a:r>
              <a:rPr lang="en-US" sz="1200" b="1" spc="100" kern="0" dirty="0">
                <a:solidFill>
                  <a:srgbClr val="B85A3C"/>
                </a:solidFill>
                <a:latin typeface="Calibri" pitchFamily="34" charset="0"/>
                <a:ea typeface="Calibri" pitchFamily="34" charset="-122"/>
                <a:cs typeface="Calibri" pitchFamily="34" charset="-120"/>
              </a:rPr>
              <a:t>PENGGUNA</a:t>
            </a:r>
            <a:endParaRPr lang="en-US" sz="1200" dirty="0"/>
          </a:p>
        </p:txBody>
      </p:sp>
      <p:sp>
        <p:nvSpPr>
          <p:cNvPr id="4" name="Text 2"/>
          <p:cNvSpPr/>
          <p:nvPr/>
        </p:nvSpPr>
        <p:spPr>
          <a:xfrm>
            <a:off x="502920" y="1389888"/>
            <a:ext cx="6035040" cy="731520"/>
          </a:xfrm>
          <a:prstGeom prst="rect">
            <a:avLst/>
          </a:prstGeom>
          <a:noFill/>
          <a:ln/>
        </p:spPr>
        <p:txBody>
          <a:bodyPr wrap="square" lIns="0" tIns="0" rIns="0" bIns="0" rtlCol="0" anchor="t"/>
          <a:lstStyle/>
          <a:p>
            <a:pPr indent="0" marL="0">
              <a:buNone/>
            </a:pPr>
            <a:r>
              <a:rPr lang="en-US" sz="1700" dirty="0">
                <a:solidFill>
                  <a:srgbClr val="1C1917"/>
                </a:solidFill>
                <a:latin typeface="Calibri" pitchFamily="34" charset="0"/>
                <a:ea typeface="Calibri" pitchFamily="34" charset="-122"/>
                <a:cs typeface="Calibri" pitchFamily="34" charset="-120"/>
              </a:rPr>
              <a:t>Pengguna yang punya pantangan makan, karena alergi atau pilihan sendiri.</a:t>
            </a:r>
            <a:endParaRPr lang="en-US" sz="1700" dirty="0"/>
          </a:p>
        </p:txBody>
      </p:sp>
      <p:sp>
        <p:nvSpPr>
          <p:cNvPr id="5" name="Text 3"/>
          <p:cNvSpPr/>
          <p:nvPr/>
        </p:nvSpPr>
        <p:spPr>
          <a:xfrm>
            <a:off x="502920" y="2176272"/>
            <a:ext cx="5852160" cy="274320"/>
          </a:xfrm>
          <a:prstGeom prst="rect">
            <a:avLst/>
          </a:prstGeom>
          <a:noFill/>
          <a:ln/>
        </p:spPr>
        <p:txBody>
          <a:bodyPr wrap="square" lIns="0" tIns="0" rIns="0" bIns="0" rtlCol="0" anchor="ctr"/>
          <a:lstStyle/>
          <a:p>
            <a:pPr indent="0" marL="0">
              <a:buNone/>
            </a:pPr>
            <a:r>
              <a:rPr lang="en-US" sz="1200" b="1" spc="100" kern="0" dirty="0">
                <a:solidFill>
                  <a:srgbClr val="B85A3C"/>
                </a:solidFill>
                <a:latin typeface="Calibri" pitchFamily="34" charset="0"/>
                <a:ea typeface="Calibri" pitchFamily="34" charset="-122"/>
                <a:cs typeface="Calibri" pitchFamily="34" charset="-120"/>
              </a:rPr>
              <a:t>MASALAH</a:t>
            </a:r>
            <a:endParaRPr lang="en-US" sz="1200" dirty="0"/>
          </a:p>
        </p:txBody>
      </p:sp>
      <p:sp>
        <p:nvSpPr>
          <p:cNvPr id="6" name="Text 4"/>
          <p:cNvSpPr/>
          <p:nvPr/>
        </p:nvSpPr>
        <p:spPr>
          <a:xfrm>
            <a:off x="502920" y="2468880"/>
            <a:ext cx="6035040" cy="731520"/>
          </a:xfrm>
          <a:prstGeom prst="rect">
            <a:avLst/>
          </a:prstGeom>
          <a:noFill/>
          <a:ln/>
        </p:spPr>
        <p:txBody>
          <a:bodyPr wrap="square" lIns="0" tIns="0" rIns="0" bIns="0" rtlCol="0" anchor="t"/>
          <a:lstStyle/>
          <a:p>
            <a:pPr indent="0" marL="0">
              <a:buNone/>
            </a:pPr>
            <a:r>
              <a:rPr lang="en-US" sz="1700" dirty="0">
                <a:solidFill>
                  <a:srgbClr val="1C1917"/>
                </a:solidFill>
                <a:latin typeface="Calibri" pitchFamily="34" charset="0"/>
                <a:ea typeface="Calibri" pitchFamily="34" charset="-122"/>
                <a:cs typeface="Calibri" pitchFamily="34" charset="-120"/>
              </a:rPr>
              <a:t>Huruf daftar komposisi terlalu kecil, jadi bahan pantangan terlewat.</a:t>
            </a:r>
            <a:endParaRPr lang="en-US" sz="1700" dirty="0"/>
          </a:p>
        </p:txBody>
      </p:sp>
      <p:sp>
        <p:nvSpPr>
          <p:cNvPr id="7" name="Text 5"/>
          <p:cNvSpPr/>
          <p:nvPr/>
        </p:nvSpPr>
        <p:spPr>
          <a:xfrm>
            <a:off x="502920" y="3255264"/>
            <a:ext cx="5852160" cy="274320"/>
          </a:xfrm>
          <a:prstGeom prst="rect">
            <a:avLst/>
          </a:prstGeom>
          <a:noFill/>
          <a:ln/>
        </p:spPr>
        <p:txBody>
          <a:bodyPr wrap="square" lIns="0" tIns="0" rIns="0" bIns="0" rtlCol="0" anchor="ctr"/>
          <a:lstStyle/>
          <a:p>
            <a:pPr indent="0" marL="0">
              <a:buNone/>
            </a:pPr>
            <a:r>
              <a:rPr lang="en-US" sz="1200" b="1" spc="100" kern="0" dirty="0">
                <a:solidFill>
                  <a:srgbClr val="B85A3C"/>
                </a:solidFill>
                <a:latin typeface="Calibri" pitchFamily="34" charset="0"/>
                <a:ea typeface="Calibri" pitchFamily="34" charset="-122"/>
                <a:cs typeface="Calibri" pitchFamily="34" charset="-120"/>
              </a:rPr>
              <a:t>ASAL MASALAH</a:t>
            </a:r>
            <a:endParaRPr lang="en-US" sz="1200" dirty="0"/>
          </a:p>
        </p:txBody>
      </p:sp>
      <p:sp>
        <p:nvSpPr>
          <p:cNvPr id="8" name="Text 6"/>
          <p:cNvSpPr/>
          <p:nvPr/>
        </p:nvSpPr>
        <p:spPr>
          <a:xfrm>
            <a:off x="502920" y="3547872"/>
            <a:ext cx="6035040" cy="731520"/>
          </a:xfrm>
          <a:prstGeom prst="rect">
            <a:avLst/>
          </a:prstGeom>
          <a:noFill/>
          <a:ln/>
        </p:spPr>
        <p:txBody>
          <a:bodyPr wrap="square" lIns="0" tIns="0" rIns="0" bIns="0" rtlCol="0" anchor="t"/>
          <a:lstStyle/>
          <a:p>
            <a:pPr indent="0" marL="0">
              <a:buNone/>
            </a:pPr>
            <a:r>
              <a:rPr lang="en-US" sz="1700" dirty="0">
                <a:solidFill>
                  <a:srgbClr val="1C1917"/>
                </a:solidFill>
                <a:latin typeface="Calibri" pitchFamily="34" charset="0"/>
                <a:ea typeface="Calibri" pitchFamily="34" charset="-122"/>
                <a:cs typeface="Calibri" pitchFamily="34" charset="-120"/>
              </a:rPr>
              <a:t>Dari pengguna yang punya pantangan: tiap belanja ia membalik bungkus dan membaca huruf kecil satu per satu.</a:t>
            </a:r>
            <a:endParaRPr lang="en-US" sz="1700" dirty="0"/>
          </a:p>
        </p:txBody>
      </p:sp>
      <p:sp>
        <p:nvSpPr>
          <p:cNvPr id="9" name="Text 7"/>
          <p:cNvSpPr/>
          <p:nvPr/>
        </p:nvSpPr>
        <p:spPr>
          <a:xfrm>
            <a:off x="502920" y="4334256"/>
            <a:ext cx="5852160" cy="274320"/>
          </a:xfrm>
          <a:prstGeom prst="rect">
            <a:avLst/>
          </a:prstGeom>
          <a:noFill/>
          <a:ln/>
        </p:spPr>
        <p:txBody>
          <a:bodyPr wrap="square" lIns="0" tIns="0" rIns="0" bIns="0" rtlCol="0" anchor="ctr"/>
          <a:lstStyle/>
          <a:p>
            <a:pPr indent="0" marL="0">
              <a:buNone/>
            </a:pPr>
            <a:r>
              <a:rPr lang="en-US" sz="1200" b="1" spc="100" kern="0" dirty="0">
                <a:solidFill>
                  <a:srgbClr val="B85A3C"/>
                </a:solidFill>
                <a:latin typeface="Calibri" pitchFamily="34" charset="0"/>
                <a:ea typeface="Calibri" pitchFamily="34" charset="-122"/>
                <a:cs typeface="Calibri" pitchFamily="34" charset="-120"/>
              </a:rPr>
              <a:t>CARA APP MENYELESAIKANNYA</a:t>
            </a:r>
            <a:endParaRPr lang="en-US" sz="1200" dirty="0"/>
          </a:p>
        </p:txBody>
      </p:sp>
      <p:sp>
        <p:nvSpPr>
          <p:cNvPr id="10" name="Text 8"/>
          <p:cNvSpPr/>
          <p:nvPr/>
        </p:nvSpPr>
        <p:spPr>
          <a:xfrm>
            <a:off x="502920" y="4626864"/>
            <a:ext cx="6035040" cy="731520"/>
          </a:xfrm>
          <a:prstGeom prst="rect">
            <a:avLst/>
          </a:prstGeom>
          <a:noFill/>
          <a:ln/>
        </p:spPr>
        <p:txBody>
          <a:bodyPr wrap="square" lIns="0" tIns="0" rIns="0" bIns="0" rtlCol="0" anchor="t"/>
          <a:lstStyle/>
          <a:p>
            <a:pPr indent="0" marL="0">
              <a:buNone/>
            </a:pPr>
            <a:r>
              <a:rPr lang="en-US" sz="1700" dirty="0">
                <a:solidFill>
                  <a:srgbClr val="1C1917"/>
                </a:solidFill>
                <a:latin typeface="Calibri" pitchFamily="34" charset="0"/>
                <a:ea typeface="Calibri" pitchFamily="34" charset="-122"/>
                <a:cs typeface="Calibri" pitchFamily="34" charset="-120"/>
              </a:rPr>
              <a:t>Pilih pantangan sekali, foto komposisinya, lalu baca satu kalimat.</a:t>
            </a:r>
            <a:endParaRPr lang="en-US" sz="1700" dirty="0"/>
          </a:p>
        </p:txBody>
      </p:sp>
      <p:sp>
        <p:nvSpPr>
          <p:cNvPr id="11" name="Shape 9"/>
          <p:cNvSpPr/>
          <p:nvPr/>
        </p:nvSpPr>
        <p:spPr>
          <a:xfrm>
            <a:off x="6903720" y="1097280"/>
            <a:ext cx="4800600" cy="4160520"/>
          </a:xfrm>
          <a:prstGeom prst="roundRect">
            <a:avLst>
              <a:gd name="adj" fmla="val 2637"/>
            </a:avLst>
          </a:prstGeom>
          <a:solidFill>
            <a:srgbClr val="FDF0CC"/>
          </a:solidFill>
          <a:ln w="9525">
            <a:solidFill>
              <a:srgbClr val="E4DDD4"/>
            </a:solidFill>
            <a:prstDash val="solid"/>
          </a:ln>
        </p:spPr>
      </p:sp>
      <p:sp>
        <p:nvSpPr>
          <p:cNvPr id="12" name="Text 10"/>
          <p:cNvSpPr/>
          <p:nvPr/>
        </p:nvSpPr>
        <p:spPr>
          <a:xfrm>
            <a:off x="7178040" y="1325880"/>
            <a:ext cx="4297680" cy="274320"/>
          </a:xfrm>
          <a:prstGeom prst="rect">
            <a:avLst/>
          </a:prstGeom>
          <a:noFill/>
          <a:ln/>
        </p:spPr>
        <p:txBody>
          <a:bodyPr wrap="square" lIns="0" tIns="0" rIns="0" bIns="0" rtlCol="0" anchor="ctr"/>
          <a:lstStyle/>
          <a:p>
            <a:pPr indent="0" marL="0">
              <a:buNone/>
            </a:pPr>
            <a:r>
              <a:rPr lang="en-US" sz="1200" b="1" spc="100" kern="0" dirty="0">
                <a:solidFill>
                  <a:srgbClr val="1C1917"/>
                </a:solidFill>
                <a:latin typeface="Calibri" pitchFamily="34" charset="0"/>
                <a:ea typeface="Calibri" pitchFamily="34" charset="-122"/>
                <a:cs typeface="Calibri" pitchFamily="34" charset="-120"/>
              </a:rPr>
              <a:t>DAMPAK LAIN</a:t>
            </a:r>
            <a:endParaRPr lang="en-US" sz="1200" dirty="0"/>
          </a:p>
        </p:txBody>
      </p:sp>
      <p:sp>
        <p:nvSpPr>
          <p:cNvPr id="13" name="Text 11"/>
          <p:cNvSpPr/>
          <p:nvPr/>
        </p:nvSpPr>
        <p:spPr>
          <a:xfrm>
            <a:off x="7178040" y="1691640"/>
            <a:ext cx="4297680" cy="1097280"/>
          </a:xfrm>
          <a:prstGeom prst="rect">
            <a:avLst/>
          </a:prstGeom>
          <a:noFill/>
          <a:ln/>
        </p:spPr>
        <p:txBody>
          <a:bodyPr wrap="square" lIns="0" tIns="0" rIns="0" bIns="0" rtlCol="0" anchor="t"/>
          <a:lstStyle/>
          <a:p>
            <a:pPr indent="0" marL="0">
              <a:buNone/>
            </a:pPr>
            <a:r>
              <a:rPr lang="en-US" sz="2200" dirty="0">
                <a:solidFill>
                  <a:srgbClr val="1C1917"/>
                </a:solidFill>
                <a:latin typeface="Georgia" pitchFamily="34" charset="0"/>
                <a:ea typeface="Georgia" pitchFamily="34" charset="-122"/>
                <a:cs typeface="Georgia" pitchFamily="34" charset="-120"/>
              </a:rPr>
              <a:t>“Dapat mengandung” tidak lagi tercampur dengan bahan.</a:t>
            </a:r>
            <a:endParaRPr lang="en-US" sz="2200" dirty="0"/>
          </a:p>
        </p:txBody>
      </p:sp>
      <p:sp>
        <p:nvSpPr>
          <p:cNvPr id="14" name="Text 12"/>
          <p:cNvSpPr/>
          <p:nvPr/>
        </p:nvSpPr>
        <p:spPr>
          <a:xfrm>
            <a:off x="7178040" y="2880360"/>
            <a:ext cx="4297680" cy="1463040"/>
          </a:xfrm>
          <a:prstGeom prst="rect">
            <a:avLst/>
          </a:prstGeom>
          <a:noFill/>
          <a:ln/>
        </p:spPr>
        <p:txBody>
          <a:bodyPr wrap="square" lIns="0" tIns="0" rIns="0" bIns="0" rtlCol="0" anchor="t"/>
          <a:lstStyle/>
          <a:p>
            <a:pPr indent="0" marL="0">
              <a:buNone/>
            </a:pPr>
            <a:r>
              <a:rPr lang="en-US" sz="1500" dirty="0">
                <a:solidFill>
                  <a:srgbClr val="1C1917"/>
                </a:solidFill>
                <a:latin typeface="Calibri" pitchFamily="34" charset="0"/>
                <a:ea typeface="Calibri" pitchFamily="34" charset="-122"/>
                <a:cs typeface="Calibri" pitchFamily="34" charset="-120"/>
              </a:rPr>
              <a:t>Pengguna tahu mana yang memang bahan produk, dan mana yang hanya kemungkinan dari pabrik. Nama Latin atau Inggris, misalnya arachis hypogaea, ikut dikenali.</a:t>
            </a:r>
            <a:endParaRPr lang="en-US" sz="1500" dirty="0"/>
          </a:p>
        </p:txBody>
      </p:sp>
      <p:pic>
        <p:nvPicPr>
          <p:cNvPr id="15" name="Image 0" descr="Kartu hijau dengan peringatan dapat mengandung kacang">    </p:cNvPr>
          <p:cNvPicPr>
            <a:picLocks noChangeAspect="1"/>
          </p:cNvPicPr>
          <p:nvPr/>
        </p:nvPicPr>
        <p:blipFill>
          <a:blip r:embed="rId1"/>
          <a:stretch>
            <a:fillRect/>
          </a:stretch>
        </p:blipFill>
        <p:spPr>
          <a:xfrm>
            <a:off x="7178040" y="4251960"/>
            <a:ext cx="2194560" cy="975360"/>
          </a:xfrm>
          <a:prstGeom prst="rect">
            <a:avLst/>
          </a:prstGeom>
        </p:spPr>
      </p:pic>
      <p:sp>
        <p:nvSpPr>
          <p:cNvPr id="16" name="Text 13"/>
          <p:cNvSpPr/>
          <p:nvPr/>
        </p:nvSpPr>
        <p:spPr>
          <a:xfrm>
            <a:off x="502920" y="6446520"/>
            <a:ext cx="7315200" cy="228600"/>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Grup 5  ·  ScanBite  ·  Jalur Tim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85A3C"/>
          </a:solidFill>
          <a:ln/>
        </p:spPr>
      </p:sp>
      <p:sp>
        <p:nvSpPr>
          <p:cNvPr id="3" name="Text 1"/>
          <p:cNvSpPr/>
          <p:nvPr/>
        </p:nvSpPr>
        <p:spPr>
          <a:xfrm>
            <a:off x="777240" y="1828800"/>
            <a:ext cx="2743200" cy="822960"/>
          </a:xfrm>
          <a:prstGeom prst="rect">
            <a:avLst/>
          </a:prstGeom>
          <a:noFill/>
          <a:ln/>
        </p:spPr>
        <p:txBody>
          <a:bodyPr wrap="square" lIns="0" tIns="0" rIns="0" bIns="0" rtlCol="0" anchor="ctr"/>
          <a:lstStyle/>
          <a:p>
            <a:pPr indent="0" marL="0">
              <a:buNone/>
            </a:pPr>
            <a:r>
              <a:rPr lang="en-US" sz="5400" dirty="0">
                <a:solidFill>
                  <a:srgbClr val="B85A3C"/>
                </a:solidFill>
                <a:latin typeface="Georgia" pitchFamily="34" charset="0"/>
                <a:ea typeface="Georgia" pitchFamily="34" charset="-122"/>
                <a:cs typeface="Georgia" pitchFamily="34" charset="-120"/>
              </a:rPr>
              <a:t>03</a:t>
            </a:r>
            <a:endParaRPr lang="en-US" sz="5400" dirty="0"/>
          </a:p>
        </p:txBody>
      </p:sp>
      <p:sp>
        <p:nvSpPr>
          <p:cNvPr id="4" name="Text 2"/>
          <p:cNvSpPr/>
          <p:nvPr/>
        </p:nvSpPr>
        <p:spPr>
          <a:xfrm>
            <a:off x="777240" y="2743200"/>
            <a:ext cx="6035040" cy="1097280"/>
          </a:xfrm>
          <a:prstGeom prst="rect">
            <a:avLst/>
          </a:prstGeom>
          <a:noFill/>
          <a:ln/>
        </p:spPr>
        <p:txBody>
          <a:bodyPr wrap="square" lIns="0" tIns="0" rIns="0" bIns="0" rtlCol="0" anchor="t"/>
          <a:lstStyle/>
          <a:p>
            <a:pPr indent="0" marL="0">
              <a:buNone/>
            </a:pPr>
            <a:r>
              <a:rPr lang="en-US" sz="3800" dirty="0">
                <a:solidFill>
                  <a:srgbClr val="1C1917"/>
                </a:solidFill>
                <a:latin typeface="Georgia" pitchFamily="34" charset="0"/>
                <a:ea typeface="Georgia" pitchFamily="34" charset="-122"/>
                <a:cs typeface="Georgia" pitchFamily="34" charset="-120"/>
              </a:rPr>
              <a:t>Solusi Berbasis AI</a:t>
            </a:r>
            <a:endParaRPr lang="en-US" sz="3800" dirty="0"/>
          </a:p>
        </p:txBody>
      </p:sp>
      <p:sp>
        <p:nvSpPr>
          <p:cNvPr id="5" name="Text 3"/>
          <p:cNvSpPr/>
          <p:nvPr/>
        </p:nvSpPr>
        <p:spPr>
          <a:xfrm>
            <a:off x="777240" y="3977640"/>
            <a:ext cx="5669280" cy="914400"/>
          </a:xfrm>
          <a:prstGeom prst="rect">
            <a:avLst/>
          </a:prstGeom>
          <a:noFill/>
          <a:ln/>
        </p:spPr>
        <p:txBody>
          <a:bodyPr wrap="square" lIns="0" tIns="0" rIns="0" bIns="0" rtlCol="0" anchor="t"/>
          <a:lstStyle/>
          <a:p>
            <a:pPr indent="0" marL="0">
              <a:buNone/>
            </a:pPr>
            <a:r>
              <a:rPr lang="en-US" sz="1800" dirty="0">
                <a:solidFill>
                  <a:srgbClr val="6B6560"/>
                </a:solidFill>
                <a:latin typeface="Calibri" pitchFamily="34" charset="0"/>
                <a:ea typeface="Calibri" pitchFamily="34" charset="-122"/>
                <a:cs typeface="Calibri" pitchFamily="34" charset="-120"/>
              </a:rPr>
              <a:t>Tiga fitur AI berurutan dalam satu foto.</a:t>
            </a:r>
            <a:endParaRPr lang="en-US" sz="1800" dirty="0"/>
          </a:p>
        </p:txBody>
      </p:sp>
      <p:pic>
        <p:nvPicPr>
          <p:cNvPr id="6" name="Image 0" descr="Bagian hasil AI di layar app">    </p:cNvPr>
          <p:cNvPicPr>
            <a:picLocks noChangeAspect="1"/>
          </p:cNvPicPr>
          <p:nvPr/>
        </p:nvPicPr>
        <p:blipFill>
          <a:blip r:embed="rId1"/>
          <a:stretch>
            <a:fillRect/>
          </a:stretch>
        </p:blipFill>
        <p:spPr>
          <a:xfrm>
            <a:off x="7086600" y="1188357"/>
            <a:ext cx="4572000" cy="44812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502920" y="320040"/>
            <a:ext cx="11155680" cy="548640"/>
          </a:xfrm>
          <a:prstGeom prst="rect">
            <a:avLst/>
          </a:prstGeom>
          <a:noFill/>
          <a:ln/>
        </p:spPr>
        <p:txBody>
          <a:bodyPr wrap="square" lIns="0" tIns="0" rIns="0" bIns="0" rtlCol="0" anchor="ctr"/>
          <a:lstStyle/>
          <a:p>
            <a:pPr indent="0" marL="0">
              <a:buNone/>
            </a:pPr>
            <a:r>
              <a:rPr lang="en-US" sz="3200" dirty="0">
                <a:solidFill>
                  <a:srgbClr val="1C1917"/>
                </a:solidFill>
                <a:latin typeface="Georgia" pitchFamily="34" charset="0"/>
                <a:ea typeface="Georgia" pitchFamily="34" charset="-122"/>
                <a:cs typeface="Georgia" pitchFamily="34" charset="-120"/>
              </a:rPr>
              <a:t>Solusi Berbasis AI</a:t>
            </a:r>
            <a:endParaRPr lang="en-US" sz="3200" dirty="0"/>
          </a:p>
        </p:txBody>
      </p:sp>
      <p:sp>
        <p:nvSpPr>
          <p:cNvPr id="3" name="Shape 1"/>
          <p:cNvSpPr/>
          <p:nvPr/>
        </p:nvSpPr>
        <p:spPr>
          <a:xfrm>
            <a:off x="502920" y="1143000"/>
            <a:ext cx="2560320" cy="3840480"/>
          </a:xfrm>
          <a:prstGeom prst="roundRect">
            <a:avLst>
              <a:gd name="adj" fmla="val 4286"/>
            </a:avLst>
          </a:prstGeom>
          <a:solidFill>
            <a:srgbClr val="FFFCF8"/>
          </a:solidFill>
          <a:ln w="9525">
            <a:solidFill>
              <a:srgbClr val="E4DDD4"/>
            </a:solidFill>
            <a:prstDash val="solid"/>
          </a:ln>
        </p:spPr>
      </p:sp>
      <p:sp>
        <p:nvSpPr>
          <p:cNvPr id="4" name="Text 2"/>
          <p:cNvSpPr/>
          <p:nvPr/>
        </p:nvSpPr>
        <p:spPr>
          <a:xfrm>
            <a:off x="731520" y="1325880"/>
            <a:ext cx="914400" cy="457200"/>
          </a:xfrm>
          <a:prstGeom prst="rect">
            <a:avLst/>
          </a:prstGeom>
          <a:noFill/>
          <a:ln/>
        </p:spPr>
        <p:txBody>
          <a:bodyPr wrap="square" lIns="0" tIns="0" rIns="0" bIns="0" rtlCol="0" anchor="ctr"/>
          <a:lstStyle/>
          <a:p>
            <a:pPr indent="0" marL="0">
              <a:buNone/>
            </a:pPr>
            <a:r>
              <a:rPr lang="en-US" sz="2800" dirty="0">
                <a:solidFill>
                  <a:srgbClr val="B85A3C"/>
                </a:solidFill>
                <a:latin typeface="Georgia" pitchFamily="34" charset="0"/>
                <a:ea typeface="Georgia" pitchFamily="34" charset="-122"/>
                <a:cs typeface="Georgia" pitchFamily="34" charset="-120"/>
              </a:rPr>
              <a:t>1</a:t>
            </a:r>
            <a:endParaRPr lang="en-US" sz="2800" dirty="0"/>
          </a:p>
        </p:txBody>
      </p:sp>
      <p:sp>
        <p:nvSpPr>
          <p:cNvPr id="5" name="Text 3"/>
          <p:cNvSpPr/>
          <p:nvPr/>
        </p:nvSpPr>
        <p:spPr>
          <a:xfrm>
            <a:off x="731520" y="1828800"/>
            <a:ext cx="2194560" cy="274320"/>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Side-app  ·  baca teks dari foto</a:t>
            </a:r>
            <a:endParaRPr lang="en-US" sz="1100" dirty="0"/>
          </a:p>
        </p:txBody>
      </p:sp>
      <p:sp>
        <p:nvSpPr>
          <p:cNvPr id="6" name="Text 4"/>
          <p:cNvSpPr/>
          <p:nvPr/>
        </p:nvSpPr>
        <p:spPr>
          <a:xfrm>
            <a:off x="731520" y="2148840"/>
            <a:ext cx="2240280" cy="731520"/>
          </a:xfrm>
          <a:prstGeom prst="rect">
            <a:avLst/>
          </a:prstGeom>
          <a:noFill/>
          <a:ln/>
        </p:spPr>
        <p:txBody>
          <a:bodyPr wrap="square" lIns="0" tIns="0" rIns="0" bIns="0" rtlCol="0" anchor="t"/>
          <a:lstStyle/>
          <a:p>
            <a:pPr indent="0" marL="0">
              <a:buNone/>
            </a:pPr>
            <a:r>
              <a:rPr lang="en-US" sz="1900" dirty="0">
                <a:solidFill>
                  <a:srgbClr val="1C1917"/>
                </a:solidFill>
                <a:latin typeface="Georgia" pitchFamily="34" charset="0"/>
                <a:ea typeface="Georgia" pitchFamily="34" charset="-122"/>
                <a:cs typeface="Georgia" pitchFamily="34" charset="-120"/>
              </a:rPr>
              <a:t>Vision</a:t>
            </a:r>
            <a:endParaRPr lang="en-US" sz="1900" dirty="0"/>
          </a:p>
        </p:txBody>
      </p:sp>
      <p:sp>
        <p:nvSpPr>
          <p:cNvPr id="7" name="Text 5"/>
          <p:cNvSpPr/>
          <p:nvPr/>
        </p:nvSpPr>
        <p:spPr>
          <a:xfrm>
            <a:off x="731520" y="2971800"/>
            <a:ext cx="2148840" cy="2194560"/>
          </a:xfrm>
          <a:prstGeom prst="rect">
            <a:avLst/>
          </a:prstGeom>
          <a:noFill/>
          <a:ln/>
        </p:spPr>
        <p:txBody>
          <a:bodyPr wrap="square" lIns="0" tIns="0" rIns="0" bIns="0" rtlCol="0" anchor="t"/>
          <a:lstStyle/>
          <a:p>
            <a:pPr indent="0" marL="0">
              <a:buNone/>
            </a:pPr>
            <a:r>
              <a:rPr lang="en-US" sz="1350" dirty="0">
                <a:solidFill>
                  <a:srgbClr val="1C1917"/>
                </a:solidFill>
                <a:latin typeface="Calibri" pitchFamily="34" charset="0"/>
                <a:ea typeface="Calibri" pitchFamily="34" charset="-122"/>
                <a:cs typeface="Calibri" pitchFamily="34" charset="-120"/>
              </a:rPr>
              <a:t>Membaca huruf di foto, bahasa Indonesia dan Inggris. Hanya teks di bawah judul Komposisi atau Ingredients.</a:t>
            </a:r>
            <a:endParaRPr lang="en-US" sz="1350" dirty="0"/>
          </a:p>
        </p:txBody>
      </p:sp>
      <p:sp>
        <p:nvSpPr>
          <p:cNvPr id="8" name="Text 6"/>
          <p:cNvSpPr/>
          <p:nvPr/>
        </p:nvSpPr>
        <p:spPr>
          <a:xfrm>
            <a:off x="3044952" y="2743200"/>
            <a:ext cx="228600" cy="365760"/>
          </a:xfrm>
          <a:prstGeom prst="rect">
            <a:avLst/>
          </a:prstGeom>
          <a:noFill/>
          <a:ln/>
        </p:spPr>
        <p:txBody>
          <a:bodyPr wrap="square" lIns="0" tIns="0" rIns="0" bIns="0" rtlCol="0" anchor="ctr"/>
          <a:lstStyle/>
          <a:p>
            <a:pPr algn="ctr" indent="0" marL="0">
              <a:buNone/>
            </a:pPr>
            <a:r>
              <a:rPr lang="en-US" sz="1800" dirty="0">
                <a:solidFill>
                  <a:srgbClr val="B85A3C"/>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246120" y="1143000"/>
            <a:ext cx="2560320" cy="3840480"/>
          </a:xfrm>
          <a:prstGeom prst="roundRect">
            <a:avLst>
              <a:gd name="adj" fmla="val 4286"/>
            </a:avLst>
          </a:prstGeom>
          <a:solidFill>
            <a:srgbClr val="FFFCF8"/>
          </a:solidFill>
          <a:ln w="9525">
            <a:solidFill>
              <a:srgbClr val="E4DDD4"/>
            </a:solidFill>
            <a:prstDash val="solid"/>
          </a:ln>
        </p:spPr>
      </p:sp>
      <p:sp>
        <p:nvSpPr>
          <p:cNvPr id="10" name="Text 8"/>
          <p:cNvSpPr/>
          <p:nvPr/>
        </p:nvSpPr>
        <p:spPr>
          <a:xfrm>
            <a:off x="3474720" y="1325880"/>
            <a:ext cx="914400" cy="457200"/>
          </a:xfrm>
          <a:prstGeom prst="rect">
            <a:avLst/>
          </a:prstGeom>
          <a:noFill/>
          <a:ln/>
        </p:spPr>
        <p:txBody>
          <a:bodyPr wrap="square" lIns="0" tIns="0" rIns="0" bIns="0" rtlCol="0" anchor="ctr"/>
          <a:lstStyle/>
          <a:p>
            <a:pPr indent="0" marL="0">
              <a:buNone/>
            </a:pPr>
            <a:r>
              <a:rPr lang="en-US" sz="2800" dirty="0">
                <a:solidFill>
                  <a:srgbClr val="B85A3C"/>
                </a:solidFill>
                <a:latin typeface="Georgia" pitchFamily="34" charset="0"/>
                <a:ea typeface="Georgia" pitchFamily="34" charset="-122"/>
                <a:cs typeface="Georgia" pitchFamily="34" charset="-120"/>
              </a:rPr>
              <a:t>2</a:t>
            </a:r>
            <a:endParaRPr lang="en-US" sz="2800" dirty="0"/>
          </a:p>
        </p:txBody>
      </p:sp>
      <p:sp>
        <p:nvSpPr>
          <p:cNvPr id="11" name="Text 9"/>
          <p:cNvSpPr/>
          <p:nvPr/>
        </p:nvSpPr>
        <p:spPr>
          <a:xfrm>
            <a:off x="3474720" y="1828800"/>
            <a:ext cx="2194560" cy="274320"/>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Diajarkan  ·  sesi 1.3</a:t>
            </a:r>
            <a:endParaRPr lang="en-US" sz="1100" dirty="0"/>
          </a:p>
        </p:txBody>
      </p:sp>
      <p:sp>
        <p:nvSpPr>
          <p:cNvPr id="12" name="Text 10"/>
          <p:cNvSpPr/>
          <p:nvPr/>
        </p:nvSpPr>
        <p:spPr>
          <a:xfrm>
            <a:off x="3474720" y="2148840"/>
            <a:ext cx="2240280" cy="731520"/>
          </a:xfrm>
          <a:prstGeom prst="rect">
            <a:avLst/>
          </a:prstGeom>
          <a:noFill/>
          <a:ln/>
        </p:spPr>
        <p:txBody>
          <a:bodyPr wrap="square" lIns="0" tIns="0" rIns="0" bIns="0" rtlCol="0" anchor="t"/>
          <a:lstStyle/>
          <a:p>
            <a:pPr indent="0" marL="0">
              <a:buNone/>
            </a:pPr>
            <a:r>
              <a:rPr lang="en-US" sz="1900" dirty="0">
                <a:solidFill>
                  <a:srgbClr val="1C1917"/>
                </a:solidFill>
                <a:latin typeface="Georgia" pitchFamily="34" charset="0"/>
                <a:ea typeface="Georgia" pitchFamily="34" charset="-122"/>
                <a:cs typeface="Georgia" pitchFamily="34" charset="-120"/>
              </a:rPr>
              <a:t>Create ML</a:t>
            </a:r>
            <a:endParaRPr lang="en-US" sz="1900" dirty="0"/>
          </a:p>
        </p:txBody>
      </p:sp>
      <p:sp>
        <p:nvSpPr>
          <p:cNvPr id="13" name="Text 11"/>
          <p:cNvSpPr/>
          <p:nvPr/>
        </p:nvSpPr>
        <p:spPr>
          <a:xfrm>
            <a:off x="3474720" y="2971800"/>
            <a:ext cx="2148840" cy="2194560"/>
          </a:xfrm>
          <a:prstGeom prst="rect">
            <a:avLst/>
          </a:prstGeom>
          <a:noFill/>
          <a:ln/>
        </p:spPr>
        <p:txBody>
          <a:bodyPr wrap="square" lIns="0" tIns="0" rIns="0" bIns="0" rtlCol="0" anchor="t"/>
          <a:lstStyle/>
          <a:p>
            <a:pPr indent="0" marL="0">
              <a:buNone/>
            </a:pPr>
            <a:r>
              <a:rPr lang="en-US" sz="1350" dirty="0">
                <a:solidFill>
                  <a:srgbClr val="1C1917"/>
                </a:solidFill>
                <a:latin typeface="Calibri" pitchFamily="34" charset="0"/>
                <a:ea typeface="Calibri" pitchFamily="34" charset="-122"/>
                <a:cs typeface="Calibri" pitchFamily="34" charset="-120"/>
              </a:rPr>
              <a:t>Model buatan kami memilah tiap kalimat: bahan, peringatan “dapat mengandung”, atau lain. Dilatih dari 940 kalimat 206 label sungguhan, akurasi test 84,7%.</a:t>
            </a:r>
            <a:endParaRPr lang="en-US" sz="1350" dirty="0"/>
          </a:p>
        </p:txBody>
      </p:sp>
      <p:sp>
        <p:nvSpPr>
          <p:cNvPr id="14" name="Text 12"/>
          <p:cNvSpPr/>
          <p:nvPr/>
        </p:nvSpPr>
        <p:spPr>
          <a:xfrm>
            <a:off x="5788152" y="2743200"/>
            <a:ext cx="228600" cy="365760"/>
          </a:xfrm>
          <a:prstGeom prst="rect">
            <a:avLst/>
          </a:prstGeom>
          <a:noFill/>
          <a:ln/>
        </p:spPr>
        <p:txBody>
          <a:bodyPr wrap="square" lIns="0" tIns="0" rIns="0" bIns="0" rtlCol="0" anchor="ctr"/>
          <a:lstStyle/>
          <a:p>
            <a:pPr algn="ctr" indent="0" marL="0">
              <a:buNone/>
            </a:pPr>
            <a:r>
              <a:rPr lang="en-US" sz="1800" dirty="0">
                <a:solidFill>
                  <a:srgbClr val="B85A3C"/>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5989320" y="1143000"/>
            <a:ext cx="2560320" cy="3840480"/>
          </a:xfrm>
          <a:prstGeom prst="roundRect">
            <a:avLst>
              <a:gd name="adj" fmla="val 4286"/>
            </a:avLst>
          </a:prstGeom>
          <a:solidFill>
            <a:srgbClr val="FFFCF8"/>
          </a:solidFill>
          <a:ln w="9525">
            <a:solidFill>
              <a:srgbClr val="E4DDD4"/>
            </a:solidFill>
            <a:prstDash val="solid"/>
          </a:ln>
        </p:spPr>
      </p:sp>
      <p:sp>
        <p:nvSpPr>
          <p:cNvPr id="16" name="Text 14"/>
          <p:cNvSpPr/>
          <p:nvPr/>
        </p:nvSpPr>
        <p:spPr>
          <a:xfrm>
            <a:off x="6217920" y="1325880"/>
            <a:ext cx="914400" cy="457200"/>
          </a:xfrm>
          <a:prstGeom prst="rect">
            <a:avLst/>
          </a:prstGeom>
          <a:noFill/>
          <a:ln/>
        </p:spPr>
        <p:txBody>
          <a:bodyPr wrap="square" lIns="0" tIns="0" rIns="0" bIns="0" rtlCol="0" anchor="ctr"/>
          <a:lstStyle/>
          <a:p>
            <a:pPr indent="0" marL="0">
              <a:buNone/>
            </a:pPr>
            <a:r>
              <a:rPr lang="en-US" sz="2800" dirty="0">
                <a:solidFill>
                  <a:srgbClr val="B85A3C"/>
                </a:solidFill>
                <a:latin typeface="Georgia" pitchFamily="34" charset="0"/>
                <a:ea typeface="Georgia" pitchFamily="34" charset="-122"/>
                <a:cs typeface="Georgia" pitchFamily="34" charset="-120"/>
              </a:rPr>
              <a:t>3</a:t>
            </a:r>
            <a:endParaRPr lang="en-US" sz="2800" dirty="0"/>
          </a:p>
        </p:txBody>
      </p:sp>
      <p:sp>
        <p:nvSpPr>
          <p:cNvPr id="17" name="Text 15"/>
          <p:cNvSpPr/>
          <p:nvPr/>
        </p:nvSpPr>
        <p:spPr>
          <a:xfrm>
            <a:off x="6217920" y="1828800"/>
            <a:ext cx="2194560" cy="274320"/>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Diajarkan  ·  sesi 2.6</a:t>
            </a:r>
            <a:endParaRPr lang="en-US" sz="1100" dirty="0"/>
          </a:p>
        </p:txBody>
      </p:sp>
      <p:sp>
        <p:nvSpPr>
          <p:cNvPr id="18" name="Text 16"/>
          <p:cNvSpPr/>
          <p:nvPr/>
        </p:nvSpPr>
        <p:spPr>
          <a:xfrm>
            <a:off x="6217920" y="2148840"/>
            <a:ext cx="2240280" cy="731520"/>
          </a:xfrm>
          <a:prstGeom prst="rect">
            <a:avLst/>
          </a:prstGeom>
          <a:noFill/>
          <a:ln/>
        </p:spPr>
        <p:txBody>
          <a:bodyPr wrap="square" lIns="0" tIns="0" rIns="0" bIns="0" rtlCol="0" anchor="t"/>
          <a:lstStyle/>
          <a:p>
            <a:pPr indent="0" marL="0">
              <a:buNone/>
            </a:pPr>
            <a:r>
              <a:rPr lang="en-US" sz="1900" dirty="0">
                <a:solidFill>
                  <a:srgbClr val="1C1917"/>
                </a:solidFill>
                <a:latin typeface="Georgia" pitchFamily="34" charset="0"/>
                <a:ea typeface="Georgia" pitchFamily="34" charset="-122"/>
                <a:cs typeface="Georgia" pitchFamily="34" charset="-120"/>
              </a:rPr>
              <a:t>Foundation Models</a:t>
            </a:r>
            <a:endParaRPr lang="en-US" sz="1900" dirty="0"/>
          </a:p>
        </p:txBody>
      </p:sp>
      <p:sp>
        <p:nvSpPr>
          <p:cNvPr id="19" name="Text 17"/>
          <p:cNvSpPr/>
          <p:nvPr/>
        </p:nvSpPr>
        <p:spPr>
          <a:xfrm>
            <a:off x="6217920" y="2971800"/>
            <a:ext cx="2148840" cy="2194560"/>
          </a:xfrm>
          <a:prstGeom prst="rect">
            <a:avLst/>
          </a:prstGeom>
          <a:noFill/>
          <a:ln/>
        </p:spPr>
        <p:txBody>
          <a:bodyPr wrap="square" lIns="0" tIns="0" rIns="0" bIns="0" rtlCol="0" anchor="t"/>
          <a:lstStyle/>
          <a:p>
            <a:pPr indent="0" marL="0">
              <a:buNone/>
            </a:pPr>
            <a:r>
              <a:rPr lang="en-US" sz="1350" dirty="0">
                <a:solidFill>
                  <a:srgbClr val="1C1917"/>
                </a:solidFill>
                <a:latin typeface="Calibri" pitchFamily="34" charset="0"/>
                <a:ea typeface="Calibri" pitchFamily="34" charset="-122"/>
                <a:cs typeface="Calibri" pitchFamily="34" charset="-120"/>
              </a:rPr>
              <a:t>Model bawaan Apple Intelligence menjelaskan kenapa, misalnya “Arachis hypogaea adalah nama ilmiah kacang tanah.”</a:t>
            </a:r>
            <a:endParaRPr lang="en-US" sz="1350" dirty="0"/>
          </a:p>
        </p:txBody>
      </p:sp>
      <p:sp>
        <p:nvSpPr>
          <p:cNvPr id="20" name="Text 18"/>
          <p:cNvSpPr/>
          <p:nvPr/>
        </p:nvSpPr>
        <p:spPr>
          <a:xfrm>
            <a:off x="502920" y="5166360"/>
            <a:ext cx="8046720" cy="548640"/>
          </a:xfrm>
          <a:prstGeom prst="rect">
            <a:avLst/>
          </a:prstGeom>
          <a:noFill/>
          <a:ln/>
        </p:spPr>
        <p:txBody>
          <a:bodyPr wrap="square" lIns="0" tIns="0" rIns="0" bIns="0" rtlCol="0" anchor="t"/>
          <a:lstStyle/>
          <a:p>
            <a:pPr indent="0" marL="0">
              <a:buNone/>
            </a:pPr>
            <a:r>
              <a:rPr lang="en-US" sz="1400" dirty="0">
                <a:solidFill>
                  <a:srgbClr val="6B6560"/>
                </a:solidFill>
                <a:latin typeface="Calibri" pitchFamily="34" charset="0"/>
                <a:ea typeface="Calibri" pitchFamily="34" charset="-122"/>
                <a:cs typeface="Calibri" pitchFamily="34" charset="-120"/>
              </a:rPr>
              <a:t>Pantangan dicocokkan dengan daftar kata hanya di kalimat bahan. Kalimat peringatan jadi kotak kuning terpisah.</a:t>
            </a:r>
            <a:endParaRPr lang="en-US" sz="1400" dirty="0"/>
          </a:p>
        </p:txBody>
      </p:sp>
      <p:pic>
        <p:nvPicPr>
          <p:cNvPr id="21" name="Image 0" descr="Hasil AI dan penjelasan di layar app">    </p:cNvPr>
          <p:cNvPicPr>
            <a:picLocks noChangeAspect="1"/>
          </p:cNvPicPr>
          <p:nvPr/>
        </p:nvPicPr>
        <p:blipFill>
          <a:blip r:embed="rId1"/>
          <a:stretch>
            <a:fillRect/>
          </a:stretch>
        </p:blipFill>
        <p:spPr>
          <a:xfrm>
            <a:off x="8778240" y="1143000"/>
            <a:ext cx="2926080" cy="2868023"/>
          </a:xfrm>
          <a:prstGeom prst="rect">
            <a:avLst/>
          </a:prstGeom>
        </p:spPr>
      </p:pic>
      <p:sp>
        <p:nvSpPr>
          <p:cNvPr id="22" name="Text 19"/>
          <p:cNvSpPr/>
          <p:nvPr/>
        </p:nvSpPr>
        <p:spPr>
          <a:xfrm>
            <a:off x="8778240" y="4343400"/>
            <a:ext cx="2926080" cy="274320"/>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Layar hasil: kartu, KENAPA, dan isi label</a:t>
            </a:r>
            <a:endParaRPr lang="en-US" sz="1100" dirty="0"/>
          </a:p>
        </p:txBody>
      </p:sp>
      <p:sp>
        <p:nvSpPr>
          <p:cNvPr id="23" name="Text 20"/>
          <p:cNvSpPr/>
          <p:nvPr/>
        </p:nvSpPr>
        <p:spPr>
          <a:xfrm>
            <a:off x="502920" y="6446520"/>
            <a:ext cx="7315200" cy="228600"/>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Grup 5  ·  ScanBite  ·  Jalur Tim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85A3C"/>
          </a:solidFill>
          <a:ln/>
        </p:spPr>
      </p:sp>
      <p:sp>
        <p:nvSpPr>
          <p:cNvPr id="3" name="Text 1"/>
          <p:cNvSpPr/>
          <p:nvPr/>
        </p:nvSpPr>
        <p:spPr>
          <a:xfrm>
            <a:off x="777240" y="1828800"/>
            <a:ext cx="2743200" cy="822960"/>
          </a:xfrm>
          <a:prstGeom prst="rect">
            <a:avLst/>
          </a:prstGeom>
          <a:noFill/>
          <a:ln/>
        </p:spPr>
        <p:txBody>
          <a:bodyPr wrap="square" lIns="0" tIns="0" rIns="0" bIns="0" rtlCol="0" anchor="ctr"/>
          <a:lstStyle/>
          <a:p>
            <a:pPr indent="0" marL="0">
              <a:buNone/>
            </a:pPr>
            <a:r>
              <a:rPr lang="en-US" sz="5400" dirty="0">
                <a:solidFill>
                  <a:srgbClr val="B85A3C"/>
                </a:solidFill>
                <a:latin typeface="Georgia" pitchFamily="34" charset="0"/>
                <a:ea typeface="Georgia" pitchFamily="34" charset="-122"/>
                <a:cs typeface="Georgia" pitchFamily="34" charset="-120"/>
              </a:rPr>
              <a:t>04</a:t>
            </a:r>
            <a:endParaRPr lang="en-US" sz="5400" dirty="0"/>
          </a:p>
        </p:txBody>
      </p:sp>
      <p:sp>
        <p:nvSpPr>
          <p:cNvPr id="4" name="Text 2"/>
          <p:cNvSpPr/>
          <p:nvPr/>
        </p:nvSpPr>
        <p:spPr>
          <a:xfrm>
            <a:off x="777240" y="2743200"/>
            <a:ext cx="6035040" cy="1097280"/>
          </a:xfrm>
          <a:prstGeom prst="rect">
            <a:avLst/>
          </a:prstGeom>
          <a:noFill/>
          <a:ln/>
        </p:spPr>
        <p:txBody>
          <a:bodyPr wrap="square" lIns="0" tIns="0" rIns="0" bIns="0" rtlCol="0" anchor="t"/>
          <a:lstStyle/>
          <a:p>
            <a:pPr indent="0" marL="0">
              <a:buNone/>
            </a:pPr>
            <a:r>
              <a:rPr lang="en-US" sz="3800" dirty="0">
                <a:solidFill>
                  <a:srgbClr val="1C1917"/>
                </a:solidFill>
                <a:latin typeface="Georgia" pitchFamily="34" charset="0"/>
                <a:ea typeface="Georgia" pitchFamily="34" charset="-122"/>
                <a:cs typeface="Georgia" pitchFamily="34" charset="-120"/>
              </a:rPr>
              <a:t>Demo Produk</a:t>
            </a:r>
            <a:endParaRPr lang="en-US" sz="3800" dirty="0"/>
          </a:p>
        </p:txBody>
      </p:sp>
      <p:sp>
        <p:nvSpPr>
          <p:cNvPr id="5" name="Text 3"/>
          <p:cNvSpPr/>
          <p:nvPr/>
        </p:nvSpPr>
        <p:spPr>
          <a:xfrm>
            <a:off x="777240" y="3977640"/>
            <a:ext cx="5669280" cy="914400"/>
          </a:xfrm>
          <a:prstGeom prst="rect">
            <a:avLst/>
          </a:prstGeom>
          <a:noFill/>
          <a:ln/>
        </p:spPr>
        <p:txBody>
          <a:bodyPr wrap="square" lIns="0" tIns="0" rIns="0" bIns="0" rtlCol="0" anchor="t"/>
          <a:lstStyle/>
          <a:p>
            <a:pPr indent="0" marL="0">
              <a:buNone/>
            </a:pPr>
            <a:r>
              <a:rPr lang="en-US" sz="1800" dirty="0">
                <a:solidFill>
                  <a:srgbClr val="6B6560"/>
                </a:solidFill>
                <a:latin typeface="Calibri" pitchFamily="34" charset="0"/>
                <a:ea typeface="Calibri" pitchFamily="34" charset="-122"/>
                <a:cs typeface="Calibri" pitchFamily="34" charset="-120"/>
              </a:rPr>
              <a:t>Satu kali foto, tiga kemungkinan hasil.</a:t>
            </a:r>
            <a:endParaRPr lang="en-US" sz="1800" dirty="0"/>
          </a:p>
        </p:txBody>
      </p:sp>
      <p:pic>
        <p:nvPicPr>
          <p:cNvPr id="6" name="Image 0" descr="Kartu hijau dengan peringatan dapat mengandung">    </p:cNvPr>
          <p:cNvPicPr>
            <a:picLocks noChangeAspect="1"/>
          </p:cNvPicPr>
          <p:nvPr/>
        </p:nvPicPr>
        <p:blipFill>
          <a:blip r:embed="rId1"/>
          <a:stretch>
            <a:fillRect/>
          </a:stretch>
        </p:blipFill>
        <p:spPr>
          <a:xfrm>
            <a:off x="7086600" y="2413000"/>
            <a:ext cx="4572000" cy="2032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502920" y="320040"/>
            <a:ext cx="11155680" cy="548640"/>
          </a:xfrm>
          <a:prstGeom prst="rect">
            <a:avLst/>
          </a:prstGeom>
          <a:noFill/>
          <a:ln/>
        </p:spPr>
        <p:txBody>
          <a:bodyPr wrap="square" lIns="0" tIns="0" rIns="0" bIns="0" rtlCol="0" anchor="ctr"/>
          <a:lstStyle/>
          <a:p>
            <a:pPr indent="0" marL="0">
              <a:buNone/>
            </a:pPr>
            <a:r>
              <a:rPr lang="en-US" sz="3200" dirty="0">
                <a:solidFill>
                  <a:srgbClr val="1C1917"/>
                </a:solidFill>
                <a:latin typeface="Georgia" pitchFamily="34" charset="0"/>
                <a:ea typeface="Georgia" pitchFamily="34" charset="-122"/>
                <a:cs typeface="Georgia" pitchFamily="34" charset="-120"/>
              </a:rPr>
              <a:t>Demo Produk</a:t>
            </a:r>
            <a:endParaRPr lang="en-US" sz="3200" dirty="0"/>
          </a:p>
        </p:txBody>
      </p:sp>
      <p:pic>
        <p:nvPicPr>
          <p:cNvPr id="3" name="Image 0" descr="Happy path">    </p:cNvPr>
          <p:cNvPicPr>
            <a:picLocks noChangeAspect="1"/>
          </p:cNvPicPr>
          <p:nvPr/>
        </p:nvPicPr>
        <p:blipFill>
          <a:blip r:embed="rId1"/>
          <a:stretch>
            <a:fillRect/>
          </a:stretch>
        </p:blipFill>
        <p:spPr>
          <a:xfrm>
            <a:off x="1130415" y="1005840"/>
            <a:ext cx="2105526" cy="4572000"/>
          </a:xfrm>
          <a:prstGeom prst="rect">
            <a:avLst/>
          </a:prstGeom>
        </p:spPr>
      </p:pic>
      <p:sp>
        <p:nvSpPr>
          <p:cNvPr id="4" name="Shape 1"/>
          <p:cNvSpPr/>
          <p:nvPr/>
        </p:nvSpPr>
        <p:spPr>
          <a:xfrm>
            <a:off x="1130415" y="1005840"/>
            <a:ext cx="2105526" cy="4572000"/>
          </a:xfrm>
          <a:prstGeom prst="roundRect">
            <a:avLst>
              <a:gd name="adj" fmla="val 7817"/>
            </a:avLst>
          </a:prstGeom>
          <a:ln w="12700">
            <a:solidFill>
              <a:srgbClr val="E4DDD4"/>
            </a:solidFill>
            <a:prstDash val="solid"/>
          </a:ln>
        </p:spPr>
      </p:sp>
      <p:sp>
        <p:nvSpPr>
          <p:cNvPr id="5" name="Text 2"/>
          <p:cNvSpPr/>
          <p:nvPr/>
        </p:nvSpPr>
        <p:spPr>
          <a:xfrm>
            <a:off x="856095" y="5669280"/>
            <a:ext cx="2654166" cy="274320"/>
          </a:xfrm>
          <a:prstGeom prst="rect">
            <a:avLst/>
          </a:prstGeom>
          <a:noFill/>
          <a:ln/>
        </p:spPr>
        <p:txBody>
          <a:bodyPr wrap="square" lIns="0" tIns="0" rIns="0" bIns="0" rtlCol="0" anchor="ctr"/>
          <a:lstStyle/>
          <a:p>
            <a:pPr algn="ctr" indent="0" marL="0">
              <a:buNone/>
            </a:pPr>
            <a:r>
              <a:rPr lang="en-US" sz="1300" b="1" dirty="0">
                <a:solidFill>
                  <a:srgbClr val="1C1917"/>
                </a:solidFill>
                <a:latin typeface="Calibri" pitchFamily="34" charset="0"/>
                <a:ea typeface="Calibri" pitchFamily="34" charset="-122"/>
                <a:cs typeface="Calibri" pitchFamily="34" charset="-120"/>
              </a:rPr>
              <a:t>Happy path</a:t>
            </a:r>
            <a:endParaRPr lang="en-US" sz="1300" dirty="0"/>
          </a:p>
        </p:txBody>
      </p:sp>
      <p:sp>
        <p:nvSpPr>
          <p:cNvPr id="6" name="Text 3"/>
          <p:cNvSpPr/>
          <p:nvPr/>
        </p:nvSpPr>
        <p:spPr>
          <a:xfrm>
            <a:off x="856095" y="5943600"/>
            <a:ext cx="2654166" cy="274320"/>
          </a:xfrm>
          <a:prstGeom prst="rect">
            <a:avLst/>
          </a:prstGeom>
          <a:noFill/>
          <a:ln/>
        </p:spPr>
        <p:txBody>
          <a:bodyPr wrap="square" lIns="0" tIns="0" rIns="0" bIns="0" rtlCol="0" anchor="ctr"/>
          <a:lstStyle/>
          <a:p>
            <a:pPr algn="ctr" indent="0" marL="0">
              <a:buNone/>
            </a:pPr>
            <a:r>
              <a:rPr lang="en-US" sz="1200" dirty="0">
                <a:solidFill>
                  <a:srgbClr val="6B6560"/>
                </a:solidFill>
                <a:latin typeface="Calibri" pitchFamily="34" charset="0"/>
                <a:ea typeface="Calibri" pitchFamily="34" charset="-122"/>
                <a:cs typeface="Calibri" pitchFamily="34" charset="-120"/>
              </a:rPr>
              <a:t>Ada kacang dan pemanis.</a:t>
            </a:r>
            <a:endParaRPr lang="en-US" sz="1200" dirty="0"/>
          </a:p>
        </p:txBody>
      </p:sp>
      <p:pic>
        <p:nvPicPr>
          <p:cNvPr id="7" name="Image 1" descr="Foto lagi tanpa menutup app">    </p:cNvPr>
          <p:cNvPicPr>
            <a:picLocks noChangeAspect="1"/>
          </p:cNvPicPr>
          <p:nvPr/>
        </p:nvPicPr>
        <p:blipFill>
          <a:blip r:embed="rId2"/>
          <a:stretch>
            <a:fillRect/>
          </a:stretch>
        </p:blipFill>
        <p:spPr>
          <a:xfrm>
            <a:off x="3738861" y="1005840"/>
            <a:ext cx="2105526" cy="4572000"/>
          </a:xfrm>
          <a:prstGeom prst="rect">
            <a:avLst/>
          </a:prstGeom>
        </p:spPr>
      </p:pic>
      <p:sp>
        <p:nvSpPr>
          <p:cNvPr id="8" name="Shape 4"/>
          <p:cNvSpPr/>
          <p:nvPr/>
        </p:nvSpPr>
        <p:spPr>
          <a:xfrm>
            <a:off x="3738861" y="1005840"/>
            <a:ext cx="2105526" cy="4572000"/>
          </a:xfrm>
          <a:prstGeom prst="roundRect">
            <a:avLst>
              <a:gd name="adj" fmla="val 7817"/>
            </a:avLst>
          </a:prstGeom>
          <a:ln w="12700">
            <a:solidFill>
              <a:srgbClr val="E4DDD4"/>
            </a:solidFill>
            <a:prstDash val="solid"/>
          </a:ln>
        </p:spPr>
      </p:sp>
      <p:sp>
        <p:nvSpPr>
          <p:cNvPr id="9" name="Text 5"/>
          <p:cNvSpPr/>
          <p:nvPr/>
        </p:nvSpPr>
        <p:spPr>
          <a:xfrm>
            <a:off x="3464541" y="5669280"/>
            <a:ext cx="2654166" cy="274320"/>
          </a:xfrm>
          <a:prstGeom prst="rect">
            <a:avLst/>
          </a:prstGeom>
          <a:noFill/>
          <a:ln/>
        </p:spPr>
        <p:txBody>
          <a:bodyPr wrap="square" lIns="0" tIns="0" rIns="0" bIns="0" rtlCol="0" anchor="ctr"/>
          <a:lstStyle/>
          <a:p>
            <a:pPr algn="ctr" indent="0" marL="0">
              <a:buNone/>
            </a:pPr>
            <a:r>
              <a:rPr lang="en-US" sz="1300" b="1" dirty="0">
                <a:solidFill>
                  <a:srgbClr val="1C1917"/>
                </a:solidFill>
                <a:latin typeface="Calibri" pitchFamily="34" charset="0"/>
                <a:ea typeface="Calibri" pitchFamily="34" charset="-122"/>
                <a:cs typeface="Calibri" pitchFamily="34" charset="-120"/>
              </a:rPr>
              <a:t>Foto lagi tanpa menutup app</a:t>
            </a:r>
            <a:endParaRPr lang="en-US" sz="1300" dirty="0"/>
          </a:p>
        </p:txBody>
      </p:sp>
      <p:sp>
        <p:nvSpPr>
          <p:cNvPr id="10" name="Text 6"/>
          <p:cNvSpPr/>
          <p:nvPr/>
        </p:nvSpPr>
        <p:spPr>
          <a:xfrm>
            <a:off x="3464541" y="5943600"/>
            <a:ext cx="2654166" cy="274320"/>
          </a:xfrm>
          <a:prstGeom prst="rect">
            <a:avLst/>
          </a:prstGeom>
          <a:noFill/>
          <a:ln/>
        </p:spPr>
        <p:txBody>
          <a:bodyPr wrap="square" lIns="0" tIns="0" rIns="0" bIns="0" rtlCol="0" anchor="ctr"/>
          <a:lstStyle/>
          <a:p>
            <a:pPr algn="ctr" indent="0" marL="0">
              <a:buNone/>
            </a:pPr>
            <a:r>
              <a:rPr lang="en-US" sz="1200" dirty="0">
                <a:solidFill>
                  <a:srgbClr val="6B6560"/>
                </a:solidFill>
                <a:latin typeface="Calibri" pitchFamily="34" charset="0"/>
                <a:ea typeface="Calibri" pitchFamily="34" charset="-122"/>
                <a:cs typeface="Calibri" pitchFamily="34" charset="-120"/>
              </a:rPr>
              <a:t>Tidak ditemukan garam.</a:t>
            </a:r>
            <a:endParaRPr lang="en-US" sz="1200" dirty="0"/>
          </a:p>
        </p:txBody>
      </p:sp>
      <p:pic>
        <p:nvPicPr>
          <p:cNvPr id="11" name="Image 2" descr="Dapat mengandung">    </p:cNvPr>
          <p:cNvPicPr>
            <a:picLocks noChangeAspect="1"/>
          </p:cNvPicPr>
          <p:nvPr/>
        </p:nvPicPr>
        <p:blipFill>
          <a:blip r:embed="rId3"/>
          <a:stretch>
            <a:fillRect/>
          </a:stretch>
        </p:blipFill>
        <p:spPr>
          <a:xfrm>
            <a:off x="6347308" y="1005840"/>
            <a:ext cx="2105526" cy="4572000"/>
          </a:xfrm>
          <a:prstGeom prst="rect">
            <a:avLst/>
          </a:prstGeom>
        </p:spPr>
      </p:pic>
      <p:sp>
        <p:nvSpPr>
          <p:cNvPr id="12" name="Shape 7"/>
          <p:cNvSpPr/>
          <p:nvPr/>
        </p:nvSpPr>
        <p:spPr>
          <a:xfrm>
            <a:off x="6347308" y="1005840"/>
            <a:ext cx="2105526" cy="4572000"/>
          </a:xfrm>
          <a:prstGeom prst="roundRect">
            <a:avLst>
              <a:gd name="adj" fmla="val 7817"/>
            </a:avLst>
          </a:prstGeom>
          <a:ln w="12700">
            <a:solidFill>
              <a:srgbClr val="E4DDD4"/>
            </a:solidFill>
            <a:prstDash val="solid"/>
          </a:ln>
        </p:spPr>
      </p:sp>
      <p:sp>
        <p:nvSpPr>
          <p:cNvPr id="13" name="Text 8"/>
          <p:cNvSpPr/>
          <p:nvPr/>
        </p:nvSpPr>
        <p:spPr>
          <a:xfrm>
            <a:off x="6072988" y="5669280"/>
            <a:ext cx="2654166" cy="274320"/>
          </a:xfrm>
          <a:prstGeom prst="rect">
            <a:avLst/>
          </a:prstGeom>
          <a:noFill/>
          <a:ln/>
        </p:spPr>
        <p:txBody>
          <a:bodyPr wrap="square" lIns="0" tIns="0" rIns="0" bIns="0" rtlCol="0" anchor="ctr"/>
          <a:lstStyle/>
          <a:p>
            <a:pPr algn="ctr" indent="0" marL="0">
              <a:buNone/>
            </a:pPr>
            <a:r>
              <a:rPr lang="en-US" sz="1300" b="1" dirty="0">
                <a:solidFill>
                  <a:srgbClr val="1C1917"/>
                </a:solidFill>
                <a:latin typeface="Calibri" pitchFamily="34" charset="0"/>
                <a:ea typeface="Calibri" pitchFamily="34" charset="-122"/>
                <a:cs typeface="Calibri" pitchFamily="34" charset="-120"/>
              </a:rPr>
              <a:t>Dapat mengandung</a:t>
            </a:r>
            <a:endParaRPr lang="en-US" sz="1300" dirty="0"/>
          </a:p>
        </p:txBody>
      </p:sp>
      <p:sp>
        <p:nvSpPr>
          <p:cNvPr id="14" name="Text 9"/>
          <p:cNvSpPr/>
          <p:nvPr/>
        </p:nvSpPr>
        <p:spPr>
          <a:xfrm>
            <a:off x="6072988" y="5943600"/>
            <a:ext cx="2654166" cy="274320"/>
          </a:xfrm>
          <a:prstGeom prst="rect">
            <a:avLst/>
          </a:prstGeom>
          <a:noFill/>
          <a:ln/>
        </p:spPr>
        <p:txBody>
          <a:bodyPr wrap="square" lIns="0" tIns="0" rIns="0" bIns="0" rtlCol="0" anchor="ctr"/>
          <a:lstStyle/>
          <a:p>
            <a:pPr algn="ctr" indent="0" marL="0">
              <a:buNone/>
            </a:pPr>
            <a:r>
              <a:rPr lang="en-US" sz="1200" dirty="0">
                <a:solidFill>
                  <a:srgbClr val="6B6560"/>
                </a:solidFill>
                <a:latin typeface="Calibri" pitchFamily="34" charset="0"/>
                <a:ea typeface="Calibri" pitchFamily="34" charset="-122"/>
                <a:cs typeface="Calibri" pitchFamily="34" charset="-120"/>
              </a:rPr>
              <a:t>Peringatan terpisah dari bahan.</a:t>
            </a:r>
            <a:endParaRPr lang="en-US" sz="1200" dirty="0"/>
          </a:p>
        </p:txBody>
      </p:sp>
      <p:pic>
        <p:nvPicPr>
          <p:cNvPr id="15" name="Image 3" descr="Unhappy path">    </p:cNvPr>
          <p:cNvPicPr>
            <a:picLocks noChangeAspect="1"/>
          </p:cNvPicPr>
          <p:nvPr/>
        </p:nvPicPr>
        <p:blipFill>
          <a:blip r:embed="rId4"/>
          <a:stretch>
            <a:fillRect/>
          </a:stretch>
        </p:blipFill>
        <p:spPr>
          <a:xfrm>
            <a:off x="8955754" y="1005840"/>
            <a:ext cx="2105526" cy="4572000"/>
          </a:xfrm>
          <a:prstGeom prst="rect">
            <a:avLst/>
          </a:prstGeom>
        </p:spPr>
      </p:pic>
      <p:sp>
        <p:nvSpPr>
          <p:cNvPr id="16" name="Shape 10"/>
          <p:cNvSpPr/>
          <p:nvPr/>
        </p:nvSpPr>
        <p:spPr>
          <a:xfrm>
            <a:off x="8955754" y="1005840"/>
            <a:ext cx="2105526" cy="4572000"/>
          </a:xfrm>
          <a:prstGeom prst="roundRect">
            <a:avLst>
              <a:gd name="adj" fmla="val 7817"/>
            </a:avLst>
          </a:prstGeom>
          <a:ln w="12700">
            <a:solidFill>
              <a:srgbClr val="E4DDD4"/>
            </a:solidFill>
            <a:prstDash val="solid"/>
          </a:ln>
        </p:spPr>
      </p:sp>
      <p:sp>
        <p:nvSpPr>
          <p:cNvPr id="17" name="Text 11"/>
          <p:cNvSpPr/>
          <p:nvPr/>
        </p:nvSpPr>
        <p:spPr>
          <a:xfrm>
            <a:off x="8681434" y="5669280"/>
            <a:ext cx="2654166" cy="274320"/>
          </a:xfrm>
          <a:prstGeom prst="rect">
            <a:avLst/>
          </a:prstGeom>
          <a:noFill/>
          <a:ln/>
        </p:spPr>
        <p:txBody>
          <a:bodyPr wrap="square" lIns="0" tIns="0" rIns="0" bIns="0" rtlCol="0" anchor="ctr"/>
          <a:lstStyle/>
          <a:p>
            <a:pPr algn="ctr" indent="0" marL="0">
              <a:buNone/>
            </a:pPr>
            <a:r>
              <a:rPr lang="en-US" sz="1300" b="1" dirty="0">
                <a:solidFill>
                  <a:srgbClr val="1C1917"/>
                </a:solidFill>
                <a:latin typeface="Calibri" pitchFamily="34" charset="0"/>
                <a:ea typeface="Calibri" pitchFamily="34" charset="-122"/>
                <a:cs typeface="Calibri" pitchFamily="34" charset="-120"/>
              </a:rPr>
              <a:t>Unhappy path</a:t>
            </a:r>
            <a:endParaRPr lang="en-US" sz="1300" dirty="0"/>
          </a:p>
        </p:txBody>
      </p:sp>
      <p:sp>
        <p:nvSpPr>
          <p:cNvPr id="18" name="Text 12"/>
          <p:cNvSpPr/>
          <p:nvPr/>
        </p:nvSpPr>
        <p:spPr>
          <a:xfrm>
            <a:off x="8681434" y="5943600"/>
            <a:ext cx="2654166" cy="274320"/>
          </a:xfrm>
          <a:prstGeom prst="rect">
            <a:avLst/>
          </a:prstGeom>
          <a:noFill/>
          <a:ln/>
        </p:spPr>
        <p:txBody>
          <a:bodyPr wrap="square" lIns="0" tIns="0" rIns="0" bIns="0" rtlCol="0" anchor="ctr"/>
          <a:lstStyle/>
          <a:p>
            <a:pPr algn="ctr" indent="0" marL="0">
              <a:buNone/>
            </a:pPr>
            <a:r>
              <a:rPr lang="en-US" sz="1200" dirty="0">
                <a:solidFill>
                  <a:srgbClr val="6B6560"/>
                </a:solidFill>
                <a:latin typeface="Calibri" pitchFamily="34" charset="0"/>
                <a:ea typeface="Calibri" pitchFamily="34" charset="-122"/>
                <a:cs typeface="Calibri" pitchFamily="34" charset="-120"/>
              </a:rPr>
              <a:t>Bukan daftar komposisi, ditolak.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85A3C"/>
          </a:solidFill>
          <a:ln/>
        </p:spPr>
      </p:sp>
      <p:sp>
        <p:nvSpPr>
          <p:cNvPr id="3" name="Text 1"/>
          <p:cNvSpPr/>
          <p:nvPr/>
        </p:nvSpPr>
        <p:spPr>
          <a:xfrm>
            <a:off x="777240" y="1828800"/>
            <a:ext cx="2743200" cy="822960"/>
          </a:xfrm>
          <a:prstGeom prst="rect">
            <a:avLst/>
          </a:prstGeom>
          <a:noFill/>
          <a:ln/>
        </p:spPr>
        <p:txBody>
          <a:bodyPr wrap="square" lIns="0" tIns="0" rIns="0" bIns="0" rtlCol="0" anchor="ctr"/>
          <a:lstStyle/>
          <a:p>
            <a:pPr indent="0" marL="0">
              <a:buNone/>
            </a:pPr>
            <a:r>
              <a:rPr lang="en-US" sz="5400" dirty="0">
                <a:solidFill>
                  <a:srgbClr val="B85A3C"/>
                </a:solidFill>
                <a:latin typeface="Georgia" pitchFamily="34" charset="0"/>
                <a:ea typeface="Georgia" pitchFamily="34" charset="-122"/>
                <a:cs typeface="Georgia" pitchFamily="34" charset="-120"/>
              </a:rPr>
              <a:t>05</a:t>
            </a:r>
            <a:endParaRPr lang="en-US" sz="5400" dirty="0"/>
          </a:p>
        </p:txBody>
      </p:sp>
      <p:sp>
        <p:nvSpPr>
          <p:cNvPr id="4" name="Text 2"/>
          <p:cNvSpPr/>
          <p:nvPr/>
        </p:nvSpPr>
        <p:spPr>
          <a:xfrm>
            <a:off x="777240" y="2743200"/>
            <a:ext cx="6035040" cy="1097280"/>
          </a:xfrm>
          <a:prstGeom prst="rect">
            <a:avLst/>
          </a:prstGeom>
          <a:noFill/>
          <a:ln/>
        </p:spPr>
        <p:txBody>
          <a:bodyPr wrap="square" lIns="0" tIns="0" rIns="0" bIns="0" rtlCol="0" anchor="t"/>
          <a:lstStyle/>
          <a:p>
            <a:pPr indent="0" marL="0">
              <a:buNone/>
            </a:pPr>
            <a:r>
              <a:rPr lang="en-US" sz="3800" dirty="0">
                <a:solidFill>
                  <a:srgbClr val="1C1917"/>
                </a:solidFill>
                <a:latin typeface="Georgia" pitchFamily="34" charset="0"/>
                <a:ea typeface="Georgia" pitchFamily="34" charset="-122"/>
                <a:cs typeface="Georgia" pitchFamily="34" charset="-120"/>
              </a:rPr>
              <a:t>Validasi Produk</a:t>
            </a:r>
            <a:endParaRPr lang="en-US" sz="3800" dirty="0"/>
          </a:p>
        </p:txBody>
      </p:sp>
      <p:sp>
        <p:nvSpPr>
          <p:cNvPr id="5" name="Text 3"/>
          <p:cNvSpPr/>
          <p:nvPr/>
        </p:nvSpPr>
        <p:spPr>
          <a:xfrm>
            <a:off x="777240" y="3977640"/>
            <a:ext cx="5669280" cy="914400"/>
          </a:xfrm>
          <a:prstGeom prst="rect">
            <a:avLst/>
          </a:prstGeom>
          <a:noFill/>
          <a:ln/>
        </p:spPr>
        <p:txBody>
          <a:bodyPr wrap="square" lIns="0" tIns="0" rIns="0" bIns="0" rtlCol="0" anchor="t"/>
          <a:lstStyle/>
          <a:p>
            <a:pPr indent="0" marL="0">
              <a:buNone/>
            </a:pPr>
            <a:r>
              <a:rPr lang="en-US" sz="1800" dirty="0">
                <a:solidFill>
                  <a:srgbClr val="6B6560"/>
                </a:solidFill>
                <a:latin typeface="Calibri" pitchFamily="34" charset="0"/>
                <a:ea typeface="Calibri" pitchFamily="34" charset="-122"/>
                <a:cs typeface="Calibri" pitchFamily="34" charset="-120"/>
              </a:rPr>
              <a:t>10 label sungguhan: 8 benar sebelum Create ML, 10 benar sesudahnya.</a:t>
            </a:r>
            <a:endParaRPr lang="en-US" sz="1800" dirty="0"/>
          </a:p>
        </p:txBody>
      </p:sp>
      <p:sp>
        <p:nvSpPr>
          <p:cNvPr id="6" name="Text 4"/>
          <p:cNvSpPr/>
          <p:nvPr/>
        </p:nvSpPr>
        <p:spPr>
          <a:xfrm>
            <a:off x="7223760" y="2194560"/>
            <a:ext cx="1463040" cy="1645920"/>
          </a:xfrm>
          <a:prstGeom prst="rect">
            <a:avLst/>
          </a:prstGeom>
          <a:noFill/>
          <a:ln/>
        </p:spPr>
        <p:txBody>
          <a:bodyPr wrap="square" lIns="0" tIns="0" rIns="0" bIns="0" rtlCol="0" anchor="ctr"/>
          <a:lstStyle/>
          <a:p>
            <a:pPr algn="ctr" indent="0" marL="0">
              <a:buNone/>
            </a:pPr>
            <a:r>
              <a:rPr lang="en-US" sz="11000" dirty="0">
                <a:solidFill>
                  <a:srgbClr val="6B6560"/>
                </a:solidFill>
                <a:latin typeface="Georgia" pitchFamily="34" charset="0"/>
                <a:ea typeface="Georgia" pitchFamily="34" charset="-122"/>
                <a:cs typeface="Georgia" pitchFamily="34" charset="-120"/>
              </a:rPr>
              <a:t>8</a:t>
            </a:r>
            <a:endParaRPr lang="en-US" sz="11000" dirty="0"/>
          </a:p>
        </p:txBody>
      </p:sp>
      <p:sp>
        <p:nvSpPr>
          <p:cNvPr id="7" name="Text 5"/>
          <p:cNvSpPr/>
          <p:nvPr/>
        </p:nvSpPr>
        <p:spPr>
          <a:xfrm>
            <a:off x="8686800" y="2514600"/>
            <a:ext cx="914400" cy="914400"/>
          </a:xfrm>
          <a:prstGeom prst="rect">
            <a:avLst/>
          </a:prstGeom>
          <a:noFill/>
          <a:ln/>
        </p:spPr>
        <p:txBody>
          <a:bodyPr wrap="square" lIns="0" tIns="0" rIns="0" bIns="0" rtlCol="0" anchor="ctr"/>
          <a:lstStyle/>
          <a:p>
            <a:pPr algn="ctr" indent="0" marL="0">
              <a:buNone/>
            </a:pPr>
            <a:r>
              <a:rPr lang="en-US" sz="4400" dirty="0">
                <a:solidFill>
                  <a:srgbClr val="B85A3C"/>
                </a:solidFill>
                <a:latin typeface="Calibri" pitchFamily="34" charset="0"/>
                <a:ea typeface="Calibri" pitchFamily="34" charset="-122"/>
                <a:cs typeface="Calibri" pitchFamily="34" charset="-120"/>
              </a:rPr>
              <a:t>→</a:t>
            </a:r>
            <a:endParaRPr lang="en-US" sz="4400" dirty="0"/>
          </a:p>
        </p:txBody>
      </p:sp>
      <p:sp>
        <p:nvSpPr>
          <p:cNvPr id="8" name="Text 6"/>
          <p:cNvSpPr/>
          <p:nvPr/>
        </p:nvSpPr>
        <p:spPr>
          <a:xfrm>
            <a:off x="9601200" y="2194560"/>
            <a:ext cx="2194560" cy="1645920"/>
          </a:xfrm>
          <a:prstGeom prst="rect">
            <a:avLst/>
          </a:prstGeom>
          <a:noFill/>
          <a:ln/>
        </p:spPr>
        <p:txBody>
          <a:bodyPr wrap="square" lIns="0" tIns="0" rIns="0" bIns="0" rtlCol="0" anchor="ctr"/>
          <a:lstStyle/>
          <a:p>
            <a:pPr algn="ctr" indent="0" marL="0">
              <a:buNone/>
            </a:pPr>
            <a:r>
              <a:rPr lang="en-US" sz="11000" dirty="0">
                <a:solidFill>
                  <a:srgbClr val="1E7345"/>
                </a:solidFill>
                <a:latin typeface="Georgia" pitchFamily="34" charset="0"/>
                <a:ea typeface="Georgia" pitchFamily="34" charset="-122"/>
                <a:cs typeface="Georgia" pitchFamily="34" charset="-120"/>
              </a:rPr>
              <a:t>10</a:t>
            </a:r>
            <a:endParaRPr lang="en-US" sz="11000" dirty="0"/>
          </a:p>
        </p:txBody>
      </p:sp>
      <p:sp>
        <p:nvSpPr>
          <p:cNvPr id="9" name="Text 7"/>
          <p:cNvSpPr/>
          <p:nvPr/>
        </p:nvSpPr>
        <p:spPr>
          <a:xfrm>
            <a:off x="7223760" y="3886200"/>
            <a:ext cx="4572000" cy="365760"/>
          </a:xfrm>
          <a:prstGeom prst="rect">
            <a:avLst/>
          </a:prstGeom>
          <a:noFill/>
          <a:ln/>
        </p:spPr>
        <p:txBody>
          <a:bodyPr wrap="square" lIns="0" tIns="0" rIns="0" bIns="0" rtlCol="0" anchor="ctr"/>
          <a:lstStyle/>
          <a:p>
            <a:pPr algn="ctr" indent="0" marL="0">
              <a:buNone/>
            </a:pPr>
            <a:r>
              <a:rPr lang="en-US" sz="1600" dirty="0">
                <a:solidFill>
                  <a:srgbClr val="6B6560"/>
                </a:solidFill>
                <a:latin typeface="Calibri" pitchFamily="34" charset="0"/>
                <a:ea typeface="Calibri" pitchFamily="34" charset="-122"/>
                <a:cs typeface="Calibri" pitchFamily="34" charset="-120"/>
              </a:rPr>
              <a:t>dari 10 label benar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502920" y="320040"/>
            <a:ext cx="11155680" cy="548640"/>
          </a:xfrm>
          <a:prstGeom prst="rect">
            <a:avLst/>
          </a:prstGeom>
          <a:noFill/>
          <a:ln/>
        </p:spPr>
        <p:txBody>
          <a:bodyPr wrap="square" lIns="0" tIns="0" rIns="0" bIns="0" rtlCol="0" anchor="ctr"/>
          <a:lstStyle/>
          <a:p>
            <a:pPr indent="0" marL="0">
              <a:buNone/>
            </a:pPr>
            <a:r>
              <a:rPr lang="en-US" sz="3200" dirty="0">
                <a:solidFill>
                  <a:srgbClr val="1C1917"/>
                </a:solidFill>
                <a:latin typeface="Georgia" pitchFamily="34" charset="0"/>
                <a:ea typeface="Georgia" pitchFamily="34" charset="-122"/>
                <a:cs typeface="Georgia" pitchFamily="34" charset="-120"/>
              </a:rPr>
              <a:t>Validasi Produk</a:t>
            </a:r>
            <a:endParaRPr lang="en-US" sz="3200" dirty="0"/>
          </a:p>
        </p:txBody>
      </p:sp>
      <p:sp>
        <p:nvSpPr>
          <p:cNvPr id="3" name="Shape 1"/>
          <p:cNvSpPr/>
          <p:nvPr/>
        </p:nvSpPr>
        <p:spPr>
          <a:xfrm>
            <a:off x="502920" y="1097280"/>
            <a:ext cx="3611880" cy="2103120"/>
          </a:xfrm>
          <a:prstGeom prst="roundRect">
            <a:avLst>
              <a:gd name="adj" fmla="val 5217"/>
            </a:avLst>
          </a:prstGeom>
          <a:solidFill>
            <a:srgbClr val="FFFCF8"/>
          </a:solidFill>
          <a:ln w="9525">
            <a:solidFill>
              <a:srgbClr val="E4DDD4"/>
            </a:solidFill>
            <a:prstDash val="solid"/>
          </a:ln>
        </p:spPr>
      </p:sp>
      <p:sp>
        <p:nvSpPr>
          <p:cNvPr id="4" name="Text 2"/>
          <p:cNvSpPr/>
          <p:nvPr/>
        </p:nvSpPr>
        <p:spPr>
          <a:xfrm>
            <a:off x="758952" y="1280160"/>
            <a:ext cx="3108960" cy="274320"/>
          </a:xfrm>
          <a:prstGeom prst="rect">
            <a:avLst/>
          </a:prstGeom>
          <a:noFill/>
          <a:ln/>
        </p:spPr>
        <p:txBody>
          <a:bodyPr wrap="square" lIns="0" tIns="0" rIns="0" bIns="0" rtlCol="0" anchor="ctr"/>
          <a:lstStyle/>
          <a:p>
            <a:pPr indent="0" marL="0">
              <a:buNone/>
            </a:pPr>
            <a:r>
              <a:rPr lang="en-US" sz="1200" b="1" spc="100" kern="0" dirty="0">
                <a:solidFill>
                  <a:srgbClr val="6B6560"/>
                </a:solidFill>
                <a:latin typeface="Calibri" pitchFamily="34" charset="0"/>
                <a:ea typeface="Calibri" pitchFamily="34" charset="-122"/>
                <a:cs typeface="Calibri" pitchFamily="34" charset="-120"/>
              </a:rPr>
              <a:t>INPUT YANG DICOBA</a:t>
            </a:r>
            <a:endParaRPr lang="en-US" sz="1200" dirty="0"/>
          </a:p>
        </p:txBody>
      </p:sp>
      <p:sp>
        <p:nvSpPr>
          <p:cNvPr id="5" name="Text 3"/>
          <p:cNvSpPr/>
          <p:nvPr/>
        </p:nvSpPr>
        <p:spPr>
          <a:xfrm>
            <a:off x="758952" y="1627632"/>
            <a:ext cx="3108960" cy="685800"/>
          </a:xfrm>
          <a:prstGeom prst="rect">
            <a:avLst/>
          </a:prstGeom>
          <a:noFill/>
          <a:ln/>
        </p:spPr>
        <p:txBody>
          <a:bodyPr wrap="square" lIns="0" tIns="0" rIns="0" bIns="0" rtlCol="0" anchor="ctr"/>
          <a:lstStyle/>
          <a:p>
            <a:pPr indent="0" marL="0">
              <a:buNone/>
            </a:pPr>
            <a:r>
              <a:rPr lang="en-US" sz="3400" dirty="0">
                <a:solidFill>
                  <a:srgbClr val="1C1917"/>
                </a:solidFill>
                <a:latin typeface="Georgia" pitchFamily="34" charset="0"/>
                <a:ea typeface="Georgia" pitchFamily="34" charset="-122"/>
                <a:cs typeface="Georgia" pitchFamily="34" charset="-120"/>
              </a:rPr>
              <a:t>10 label</a:t>
            </a:r>
            <a:endParaRPr lang="en-US" sz="3400" dirty="0"/>
          </a:p>
        </p:txBody>
      </p:sp>
      <p:sp>
        <p:nvSpPr>
          <p:cNvPr id="6" name="Text 4"/>
          <p:cNvSpPr/>
          <p:nvPr/>
        </p:nvSpPr>
        <p:spPr>
          <a:xfrm>
            <a:off x="758952" y="2377440"/>
            <a:ext cx="3154680" cy="685800"/>
          </a:xfrm>
          <a:prstGeom prst="rect">
            <a:avLst/>
          </a:prstGeom>
          <a:noFill/>
          <a:ln/>
        </p:spPr>
        <p:txBody>
          <a:bodyPr wrap="square" lIns="0" tIns="0" rIns="0" bIns="0" rtlCol="0" anchor="t"/>
          <a:lstStyle/>
          <a:p>
            <a:pPr indent="0" marL="0">
              <a:buNone/>
            </a:pPr>
            <a:r>
              <a:rPr lang="en-US" sz="1300" dirty="0">
                <a:solidFill>
                  <a:srgbClr val="6B6560"/>
                </a:solidFill>
                <a:latin typeface="Calibri" pitchFamily="34" charset="0"/>
                <a:ea typeface="Calibri" pitchFamily="34" charset="-122"/>
                <a:cs typeface="Calibri" pitchFamily="34" charset="-120"/>
              </a:rPr>
              <a:t>Produk Indonesia dari Open Food Facts, tidak ikut data latih</a:t>
            </a:r>
            <a:endParaRPr lang="en-US" sz="1300" dirty="0"/>
          </a:p>
        </p:txBody>
      </p:sp>
      <p:sp>
        <p:nvSpPr>
          <p:cNvPr id="7" name="Shape 5"/>
          <p:cNvSpPr/>
          <p:nvPr/>
        </p:nvSpPr>
        <p:spPr>
          <a:xfrm>
            <a:off x="4297680" y="1097280"/>
            <a:ext cx="3611880" cy="2103120"/>
          </a:xfrm>
          <a:prstGeom prst="roundRect">
            <a:avLst>
              <a:gd name="adj" fmla="val 5217"/>
            </a:avLst>
          </a:prstGeom>
          <a:solidFill>
            <a:srgbClr val="FFFCF8"/>
          </a:solidFill>
          <a:ln w="9525">
            <a:solidFill>
              <a:srgbClr val="E4DDD4"/>
            </a:solidFill>
            <a:prstDash val="solid"/>
          </a:ln>
        </p:spPr>
      </p:sp>
      <p:sp>
        <p:nvSpPr>
          <p:cNvPr id="8" name="Text 6"/>
          <p:cNvSpPr/>
          <p:nvPr/>
        </p:nvSpPr>
        <p:spPr>
          <a:xfrm>
            <a:off x="4553712" y="1280160"/>
            <a:ext cx="3108960" cy="274320"/>
          </a:xfrm>
          <a:prstGeom prst="rect">
            <a:avLst/>
          </a:prstGeom>
          <a:noFill/>
          <a:ln/>
        </p:spPr>
        <p:txBody>
          <a:bodyPr wrap="square" lIns="0" tIns="0" rIns="0" bIns="0" rtlCol="0" anchor="ctr"/>
          <a:lstStyle/>
          <a:p>
            <a:pPr indent="0" marL="0">
              <a:buNone/>
            </a:pPr>
            <a:r>
              <a:rPr lang="en-US" sz="1200" b="1" spc="100" kern="0" dirty="0">
                <a:solidFill>
                  <a:srgbClr val="6B6560"/>
                </a:solidFill>
                <a:latin typeface="Calibri" pitchFamily="34" charset="0"/>
                <a:ea typeface="Calibri" pitchFamily="34" charset="-122"/>
                <a:cs typeface="Calibri" pitchFamily="34" charset="-120"/>
              </a:rPr>
              <a:t>BERHASIL</a:t>
            </a:r>
            <a:endParaRPr lang="en-US" sz="1200" dirty="0"/>
          </a:p>
        </p:txBody>
      </p:sp>
      <p:sp>
        <p:nvSpPr>
          <p:cNvPr id="9" name="Text 7"/>
          <p:cNvSpPr/>
          <p:nvPr/>
        </p:nvSpPr>
        <p:spPr>
          <a:xfrm>
            <a:off x="4553712" y="1627632"/>
            <a:ext cx="3108960" cy="685800"/>
          </a:xfrm>
          <a:prstGeom prst="rect">
            <a:avLst/>
          </a:prstGeom>
          <a:noFill/>
          <a:ln/>
        </p:spPr>
        <p:txBody>
          <a:bodyPr wrap="square" lIns="0" tIns="0" rIns="0" bIns="0" rtlCol="0" anchor="ctr"/>
          <a:lstStyle/>
          <a:p>
            <a:pPr indent="0" marL="0">
              <a:buNone/>
            </a:pPr>
            <a:r>
              <a:rPr lang="en-US" sz="3400" dirty="0">
                <a:solidFill>
                  <a:srgbClr val="1E7345"/>
                </a:solidFill>
                <a:latin typeface="Georgia" pitchFamily="34" charset="0"/>
                <a:ea typeface="Georgia" pitchFamily="34" charset="-122"/>
                <a:cs typeface="Georgia" pitchFamily="34" charset="-120"/>
              </a:rPr>
              <a:t>10 dari 10</a:t>
            </a:r>
            <a:endParaRPr lang="en-US" sz="3400" dirty="0"/>
          </a:p>
        </p:txBody>
      </p:sp>
      <p:sp>
        <p:nvSpPr>
          <p:cNvPr id="10" name="Text 8"/>
          <p:cNvSpPr/>
          <p:nvPr/>
        </p:nvSpPr>
        <p:spPr>
          <a:xfrm>
            <a:off x="4553712" y="2377440"/>
            <a:ext cx="3154680" cy="685800"/>
          </a:xfrm>
          <a:prstGeom prst="rect">
            <a:avLst/>
          </a:prstGeom>
          <a:noFill/>
          <a:ln/>
        </p:spPr>
        <p:txBody>
          <a:bodyPr wrap="square" lIns="0" tIns="0" rIns="0" bIns="0" rtlCol="0" anchor="t"/>
          <a:lstStyle/>
          <a:p>
            <a:pPr indent="0" marL="0">
              <a:buNone/>
            </a:pPr>
            <a:r>
              <a:rPr lang="en-US" sz="1300" dirty="0">
                <a:solidFill>
                  <a:srgbClr val="6B6560"/>
                </a:solidFill>
                <a:latin typeface="Calibri" pitchFamily="34" charset="0"/>
                <a:ea typeface="Calibri" pitchFamily="34" charset="-122"/>
                <a:cs typeface="Calibri" pitchFamily="34" charset="-120"/>
              </a:rPr>
              <a:t>Sebelum Create ML: 8 dari 10</a:t>
            </a:r>
            <a:endParaRPr lang="en-US" sz="1300" dirty="0"/>
          </a:p>
        </p:txBody>
      </p:sp>
      <p:sp>
        <p:nvSpPr>
          <p:cNvPr id="11" name="Shape 9"/>
          <p:cNvSpPr/>
          <p:nvPr/>
        </p:nvSpPr>
        <p:spPr>
          <a:xfrm>
            <a:off x="8092440" y="1097280"/>
            <a:ext cx="3611880" cy="2103120"/>
          </a:xfrm>
          <a:prstGeom prst="roundRect">
            <a:avLst>
              <a:gd name="adj" fmla="val 5217"/>
            </a:avLst>
          </a:prstGeom>
          <a:solidFill>
            <a:srgbClr val="FFFCF8"/>
          </a:solidFill>
          <a:ln w="9525">
            <a:solidFill>
              <a:srgbClr val="E4DDD4"/>
            </a:solidFill>
            <a:prstDash val="solid"/>
          </a:ln>
        </p:spPr>
      </p:sp>
      <p:sp>
        <p:nvSpPr>
          <p:cNvPr id="12" name="Text 10"/>
          <p:cNvSpPr/>
          <p:nvPr/>
        </p:nvSpPr>
        <p:spPr>
          <a:xfrm>
            <a:off x="8348472" y="1280160"/>
            <a:ext cx="3108960" cy="274320"/>
          </a:xfrm>
          <a:prstGeom prst="rect">
            <a:avLst/>
          </a:prstGeom>
          <a:noFill/>
          <a:ln/>
        </p:spPr>
        <p:txBody>
          <a:bodyPr wrap="square" lIns="0" tIns="0" rIns="0" bIns="0" rtlCol="0" anchor="ctr"/>
          <a:lstStyle/>
          <a:p>
            <a:pPr indent="0" marL="0">
              <a:buNone/>
            </a:pPr>
            <a:r>
              <a:rPr lang="en-US" sz="1200" b="1" spc="100" kern="0" dirty="0">
                <a:solidFill>
                  <a:srgbClr val="6B6560"/>
                </a:solidFill>
                <a:latin typeface="Calibri" pitchFamily="34" charset="0"/>
                <a:ea typeface="Calibri" pitchFamily="34" charset="-122"/>
                <a:cs typeface="Calibri" pitchFamily="34" charset="-120"/>
              </a:rPr>
              <a:t>CONTOH YANG GAGAL</a:t>
            </a:r>
            <a:endParaRPr lang="en-US" sz="1200" dirty="0"/>
          </a:p>
        </p:txBody>
      </p:sp>
      <p:sp>
        <p:nvSpPr>
          <p:cNvPr id="13" name="Text 11"/>
          <p:cNvSpPr/>
          <p:nvPr/>
        </p:nvSpPr>
        <p:spPr>
          <a:xfrm>
            <a:off x="8348472" y="1627632"/>
            <a:ext cx="3108960" cy="685800"/>
          </a:xfrm>
          <a:prstGeom prst="rect">
            <a:avLst/>
          </a:prstGeom>
          <a:noFill/>
          <a:ln/>
        </p:spPr>
        <p:txBody>
          <a:bodyPr wrap="square" lIns="0" tIns="0" rIns="0" bIns="0" rtlCol="0" anchor="ctr"/>
          <a:lstStyle/>
          <a:p>
            <a:pPr indent="0" marL="0">
              <a:buNone/>
            </a:pPr>
            <a:r>
              <a:rPr lang="en-US" sz="3400" dirty="0">
                <a:solidFill>
                  <a:srgbClr val="1C1917"/>
                </a:solidFill>
                <a:latin typeface="Georgia" pitchFamily="34" charset="0"/>
                <a:ea typeface="Georgia" pitchFamily="34" charset="-122"/>
                <a:cs typeface="Georgia" pitchFamily="34" charset="-120"/>
              </a:rPr>
              <a:t>Superco</a:t>
            </a:r>
            <a:endParaRPr lang="en-US" sz="3400" dirty="0"/>
          </a:p>
        </p:txBody>
      </p:sp>
      <p:sp>
        <p:nvSpPr>
          <p:cNvPr id="14" name="Text 12"/>
          <p:cNvSpPr/>
          <p:nvPr/>
        </p:nvSpPr>
        <p:spPr>
          <a:xfrm>
            <a:off x="8348472" y="2377440"/>
            <a:ext cx="3154680" cy="685800"/>
          </a:xfrm>
          <a:prstGeom prst="rect">
            <a:avLst/>
          </a:prstGeom>
          <a:noFill/>
          <a:ln/>
        </p:spPr>
        <p:txBody>
          <a:bodyPr wrap="square" lIns="0" tIns="0" rIns="0" bIns="0" rtlCol="0" anchor="t"/>
          <a:lstStyle/>
          <a:p>
            <a:pPr indent="0" marL="0">
              <a:buNone/>
            </a:pPr>
            <a:r>
              <a:rPr lang="en-US" sz="1300" dirty="0">
                <a:solidFill>
                  <a:srgbClr val="6B6560"/>
                </a:solidFill>
                <a:latin typeface="Calibri" pitchFamily="34" charset="0"/>
                <a:ea typeface="Calibri" pitchFamily="34" charset="-122"/>
                <a:cs typeface="Calibri" pitchFamily="34" charset="-120"/>
              </a:rPr>
              <a:t>Versi lama menghitung “dapat mengandung telur dan kacang” sebagai bahan</a:t>
            </a:r>
            <a:endParaRPr lang="en-US" sz="1300" dirty="0"/>
          </a:p>
        </p:txBody>
      </p:sp>
      <p:sp>
        <p:nvSpPr>
          <p:cNvPr id="15" name="Shape 13"/>
          <p:cNvSpPr/>
          <p:nvPr/>
        </p:nvSpPr>
        <p:spPr>
          <a:xfrm>
            <a:off x="502920" y="3429000"/>
            <a:ext cx="11201400" cy="2697480"/>
          </a:xfrm>
          <a:prstGeom prst="roundRect">
            <a:avLst>
              <a:gd name="adj" fmla="val 4068"/>
            </a:avLst>
          </a:prstGeom>
          <a:solidFill>
            <a:srgbClr val="FFFCF8"/>
          </a:solidFill>
          <a:ln w="9525">
            <a:solidFill>
              <a:srgbClr val="E4DDD4"/>
            </a:solidFill>
            <a:prstDash val="solid"/>
          </a:ln>
        </p:spPr>
      </p:sp>
      <p:sp>
        <p:nvSpPr>
          <p:cNvPr id="16" name="Text 14"/>
          <p:cNvSpPr/>
          <p:nvPr/>
        </p:nvSpPr>
        <p:spPr>
          <a:xfrm>
            <a:off x="777240" y="3639312"/>
            <a:ext cx="5486400" cy="274320"/>
          </a:xfrm>
          <a:prstGeom prst="rect">
            <a:avLst/>
          </a:prstGeom>
          <a:noFill/>
          <a:ln/>
        </p:spPr>
        <p:txBody>
          <a:bodyPr wrap="square" lIns="0" tIns="0" rIns="0" bIns="0" rtlCol="0" anchor="ctr"/>
          <a:lstStyle/>
          <a:p>
            <a:pPr indent="0" marL="0">
              <a:buNone/>
            </a:pPr>
            <a:r>
              <a:rPr lang="en-US" sz="1200" b="1" spc="100" kern="0" dirty="0">
                <a:solidFill>
                  <a:srgbClr val="B85A3C"/>
                </a:solidFill>
                <a:latin typeface="Calibri" pitchFamily="34" charset="0"/>
                <a:ea typeface="Calibri" pitchFamily="34" charset="-122"/>
                <a:cs typeface="Calibri" pitchFamily="34" charset="-120"/>
              </a:rPr>
              <a:t>LESSON LEARNED</a:t>
            </a:r>
            <a:endParaRPr lang="en-US" sz="1200" dirty="0"/>
          </a:p>
        </p:txBody>
      </p:sp>
      <p:sp>
        <p:nvSpPr>
          <p:cNvPr id="17" name="Text 15"/>
          <p:cNvSpPr/>
          <p:nvPr/>
        </p:nvSpPr>
        <p:spPr>
          <a:xfrm>
            <a:off x="777240" y="3977640"/>
            <a:ext cx="6766560" cy="1920240"/>
          </a:xfrm>
          <a:prstGeom prst="rect">
            <a:avLst/>
          </a:prstGeom>
          <a:noFill/>
          <a:ln/>
        </p:spPr>
        <p:txBody>
          <a:bodyPr wrap="square" lIns="0" tIns="0" rIns="0" bIns="0" rtlCol="0" anchor="t"/>
          <a:lstStyle/>
          <a:p>
            <a:pPr indent="0" marL="0">
              <a:buNone/>
            </a:pPr>
            <a:r>
              <a:rPr lang="en-US" sz="1900" dirty="0">
                <a:solidFill>
                  <a:srgbClr val="1C1917"/>
                </a:solidFill>
                <a:latin typeface="Georgia" pitchFamily="34" charset="0"/>
                <a:ea typeface="Georgia" pitchFamily="34" charset="-122"/>
                <a:cs typeface="Georgia" pitchFamily="34" charset="-120"/>
              </a:rPr>
              <a:t>Label kemasan mencampur bahan dengan peringatan. Mencocokkan kata saja tidak cukup: kalimatnya perlu dipilah dulu. Model kami benar 84,7% di 144 kalimat test.</a:t>
            </a:r>
            <a:endParaRPr lang="en-US" sz="1900" dirty="0"/>
          </a:p>
        </p:txBody>
      </p:sp>
      <p:pic>
        <p:nvPicPr>
          <p:cNvPr id="18" name="Image 0" descr="Label Superco dengan kalimat dapat mengandung">    </p:cNvPr>
          <p:cNvPicPr>
            <a:picLocks noChangeAspect="1"/>
          </p:cNvPicPr>
          <p:nvPr/>
        </p:nvPicPr>
        <p:blipFill>
          <a:blip r:embed="rId1"/>
          <a:stretch>
            <a:fillRect/>
          </a:stretch>
        </p:blipFill>
        <p:spPr>
          <a:xfrm>
            <a:off x="7863840" y="3639312"/>
            <a:ext cx="3566160" cy="2312624"/>
          </a:xfrm>
          <a:prstGeom prst="rect">
            <a:avLst/>
          </a:prstGeom>
        </p:spPr>
      </p:pic>
      <p:sp>
        <p:nvSpPr>
          <p:cNvPr id="19" name="Text 16"/>
          <p:cNvSpPr/>
          <p:nvPr/>
        </p:nvSpPr>
        <p:spPr>
          <a:xfrm>
            <a:off x="7863840" y="5943600"/>
            <a:ext cx="3566160" cy="182880"/>
          </a:xfrm>
          <a:prstGeom prst="rect">
            <a:avLst/>
          </a:prstGeom>
          <a:noFill/>
          <a:ln/>
        </p:spPr>
        <p:txBody>
          <a:bodyPr wrap="square" lIns="0" tIns="0" rIns="0" bIns="0" rtlCol="0" anchor="ctr"/>
          <a:lstStyle/>
          <a:p>
            <a:pPr algn="r" indent="0" marL="0">
              <a:buNone/>
            </a:pPr>
            <a:r>
              <a:rPr lang="en-US" sz="900" dirty="0">
                <a:solidFill>
                  <a:srgbClr val="6B6560"/>
                </a:solidFill>
                <a:latin typeface="Calibri" pitchFamily="34" charset="0"/>
                <a:ea typeface="Calibri" pitchFamily="34" charset="-122"/>
                <a:cs typeface="Calibri" pitchFamily="34" charset="-120"/>
              </a:rPr>
              <a:t>Foto: Open Food Facts</a:t>
            </a:r>
            <a:endParaRPr lang="en-US" sz="900" dirty="0"/>
          </a:p>
        </p:txBody>
      </p:sp>
      <p:sp>
        <p:nvSpPr>
          <p:cNvPr id="20" name="Text 17"/>
          <p:cNvSpPr/>
          <p:nvPr/>
        </p:nvSpPr>
        <p:spPr>
          <a:xfrm>
            <a:off x="502920" y="6446520"/>
            <a:ext cx="7315200" cy="228600"/>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Grup 5  ·  ScanBite  ·  Jalur Tim</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85A3C"/>
          </a:solidFill>
          <a:ln/>
        </p:spPr>
      </p:sp>
      <p:sp>
        <p:nvSpPr>
          <p:cNvPr id="3" name="Text 1"/>
          <p:cNvSpPr/>
          <p:nvPr/>
        </p:nvSpPr>
        <p:spPr>
          <a:xfrm>
            <a:off x="777240" y="1828800"/>
            <a:ext cx="2743200" cy="822960"/>
          </a:xfrm>
          <a:prstGeom prst="rect">
            <a:avLst/>
          </a:prstGeom>
          <a:noFill/>
          <a:ln/>
        </p:spPr>
        <p:txBody>
          <a:bodyPr wrap="square" lIns="0" tIns="0" rIns="0" bIns="0" rtlCol="0" anchor="ctr"/>
          <a:lstStyle/>
          <a:p>
            <a:pPr indent="0" marL="0">
              <a:buNone/>
            </a:pPr>
            <a:r>
              <a:rPr lang="en-US" sz="5400" dirty="0">
                <a:solidFill>
                  <a:srgbClr val="B85A3C"/>
                </a:solidFill>
                <a:latin typeface="Georgia" pitchFamily="34" charset="0"/>
                <a:ea typeface="Georgia" pitchFamily="34" charset="-122"/>
                <a:cs typeface="Georgia" pitchFamily="34" charset="-120"/>
              </a:rPr>
              <a:t>06</a:t>
            </a:r>
            <a:endParaRPr lang="en-US" sz="5400" dirty="0"/>
          </a:p>
        </p:txBody>
      </p:sp>
      <p:sp>
        <p:nvSpPr>
          <p:cNvPr id="4" name="Text 2"/>
          <p:cNvSpPr/>
          <p:nvPr/>
        </p:nvSpPr>
        <p:spPr>
          <a:xfrm>
            <a:off x="777240" y="2743200"/>
            <a:ext cx="6035040" cy="1097280"/>
          </a:xfrm>
          <a:prstGeom prst="rect">
            <a:avLst/>
          </a:prstGeom>
          <a:noFill/>
          <a:ln/>
        </p:spPr>
        <p:txBody>
          <a:bodyPr wrap="square" lIns="0" tIns="0" rIns="0" bIns="0" rtlCol="0" anchor="t"/>
          <a:lstStyle/>
          <a:p>
            <a:pPr indent="0" marL="0">
              <a:buNone/>
            </a:pPr>
            <a:r>
              <a:rPr lang="en-US" sz="3800" dirty="0">
                <a:solidFill>
                  <a:srgbClr val="1C1917"/>
                </a:solidFill>
                <a:latin typeface="Georgia" pitchFamily="34" charset="0"/>
                <a:ea typeface="Georgia" pitchFamily="34" charset="-122"/>
                <a:cs typeface="Georgia" pitchFamily="34" charset="-120"/>
              </a:rPr>
              <a:t>Rencana Pengembangan</a:t>
            </a:r>
            <a:endParaRPr lang="en-US" sz="3800" dirty="0"/>
          </a:p>
        </p:txBody>
      </p:sp>
      <p:sp>
        <p:nvSpPr>
          <p:cNvPr id="5" name="Text 3"/>
          <p:cNvSpPr/>
          <p:nvPr/>
        </p:nvSpPr>
        <p:spPr>
          <a:xfrm>
            <a:off x="777240" y="3977640"/>
            <a:ext cx="5669280" cy="914400"/>
          </a:xfrm>
          <a:prstGeom prst="rect">
            <a:avLst/>
          </a:prstGeom>
          <a:noFill/>
          <a:ln/>
        </p:spPr>
        <p:txBody>
          <a:bodyPr wrap="square" lIns="0" tIns="0" rIns="0" bIns="0" rtlCol="0" anchor="t"/>
          <a:lstStyle/>
          <a:p>
            <a:pPr indent="0" marL="0">
              <a:buNone/>
            </a:pPr>
            <a:r>
              <a:rPr lang="en-US" sz="1800" dirty="0">
                <a:solidFill>
                  <a:srgbClr val="6B6560"/>
                </a:solidFill>
                <a:latin typeface="Calibri" pitchFamily="34" charset="0"/>
                <a:ea typeface="Calibri" pitchFamily="34" charset="-122"/>
                <a:cs typeface="Calibri" pitchFamily="34" charset="-120"/>
              </a:rPr>
              <a:t>Satu langkah berikutnya.</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502920" y="320040"/>
            <a:ext cx="11155680" cy="548640"/>
          </a:xfrm>
          <a:prstGeom prst="rect">
            <a:avLst/>
          </a:prstGeom>
          <a:noFill/>
          <a:ln/>
        </p:spPr>
        <p:txBody>
          <a:bodyPr wrap="square" lIns="0" tIns="0" rIns="0" bIns="0" rtlCol="0" anchor="ctr"/>
          <a:lstStyle/>
          <a:p>
            <a:pPr indent="0" marL="0">
              <a:buNone/>
            </a:pPr>
            <a:r>
              <a:rPr lang="en-US" sz="3200" dirty="0">
                <a:solidFill>
                  <a:srgbClr val="1C1917"/>
                </a:solidFill>
                <a:latin typeface="Georgia" pitchFamily="34" charset="0"/>
                <a:ea typeface="Georgia" pitchFamily="34" charset="-122"/>
                <a:cs typeface="Georgia" pitchFamily="34" charset="-120"/>
              </a:rPr>
              <a:t>Rencana Pengembangan</a:t>
            </a:r>
            <a:endParaRPr lang="en-US" sz="3200" dirty="0"/>
          </a:p>
        </p:txBody>
      </p:sp>
      <p:sp>
        <p:nvSpPr>
          <p:cNvPr id="3" name="Shape 1"/>
          <p:cNvSpPr/>
          <p:nvPr/>
        </p:nvSpPr>
        <p:spPr>
          <a:xfrm>
            <a:off x="502920" y="1143000"/>
            <a:ext cx="6949440" cy="3566160"/>
          </a:xfrm>
          <a:prstGeom prst="roundRect">
            <a:avLst>
              <a:gd name="adj" fmla="val 3077"/>
            </a:avLst>
          </a:prstGeom>
          <a:solidFill>
            <a:srgbClr val="FFFCF8"/>
          </a:solidFill>
          <a:ln w="9525">
            <a:solidFill>
              <a:srgbClr val="E4DDD4"/>
            </a:solidFill>
            <a:prstDash val="solid"/>
          </a:ln>
        </p:spPr>
      </p:sp>
      <p:sp>
        <p:nvSpPr>
          <p:cNvPr id="4" name="Text 2"/>
          <p:cNvSpPr/>
          <p:nvPr/>
        </p:nvSpPr>
        <p:spPr>
          <a:xfrm>
            <a:off x="868680" y="1463040"/>
            <a:ext cx="5486400" cy="274320"/>
          </a:xfrm>
          <a:prstGeom prst="rect">
            <a:avLst/>
          </a:prstGeom>
          <a:noFill/>
          <a:ln/>
        </p:spPr>
        <p:txBody>
          <a:bodyPr wrap="square" lIns="0" tIns="0" rIns="0" bIns="0" rtlCol="0" anchor="ctr"/>
          <a:lstStyle/>
          <a:p>
            <a:pPr indent="0" marL="0">
              <a:buNone/>
            </a:pPr>
            <a:r>
              <a:rPr lang="en-US" sz="1200" b="1" spc="100" kern="0" dirty="0">
                <a:solidFill>
                  <a:srgbClr val="B85A3C"/>
                </a:solidFill>
                <a:latin typeface="Calibri" pitchFamily="34" charset="0"/>
                <a:ea typeface="Calibri" pitchFamily="34" charset="-122"/>
                <a:cs typeface="Calibri" pitchFamily="34" charset="-120"/>
              </a:rPr>
              <a:t>LANGKAH BERIKUTNYA</a:t>
            </a:r>
            <a:endParaRPr lang="en-US" sz="1200" dirty="0"/>
          </a:p>
        </p:txBody>
      </p:sp>
      <p:sp>
        <p:nvSpPr>
          <p:cNvPr id="5" name="Text 3"/>
          <p:cNvSpPr/>
          <p:nvPr/>
        </p:nvSpPr>
        <p:spPr>
          <a:xfrm>
            <a:off x="868680" y="1828800"/>
            <a:ext cx="6309360" cy="1188720"/>
          </a:xfrm>
          <a:prstGeom prst="rect">
            <a:avLst/>
          </a:prstGeom>
          <a:noFill/>
          <a:ln/>
        </p:spPr>
        <p:txBody>
          <a:bodyPr wrap="square" lIns="0" tIns="0" rIns="0" bIns="0" rtlCol="0" anchor="t"/>
          <a:lstStyle/>
          <a:p>
            <a:pPr indent="0" marL="0">
              <a:buNone/>
            </a:pPr>
            <a:r>
              <a:rPr lang="en-US" sz="3200" dirty="0">
                <a:solidFill>
                  <a:srgbClr val="1C1917"/>
                </a:solidFill>
                <a:latin typeface="Georgia" pitchFamily="34" charset="0"/>
                <a:ea typeface="Georgia" pitchFamily="34" charset="-122"/>
                <a:cs typeface="Georgia" pitchFamily="34" charset="-120"/>
              </a:rPr>
              <a:t>Uji 30 kemasan dari kamera iPhone.</a:t>
            </a:r>
            <a:endParaRPr lang="en-US" sz="3200" dirty="0"/>
          </a:p>
        </p:txBody>
      </p:sp>
      <p:sp>
        <p:nvSpPr>
          <p:cNvPr id="6" name="Text 4"/>
          <p:cNvSpPr/>
          <p:nvPr/>
        </p:nvSpPr>
        <p:spPr>
          <a:xfrm>
            <a:off x="868680" y="3154680"/>
            <a:ext cx="6309360" cy="1828800"/>
          </a:xfrm>
          <a:prstGeom prst="rect">
            <a:avLst/>
          </a:prstGeom>
          <a:noFill/>
          <a:ln/>
        </p:spPr>
        <p:txBody>
          <a:bodyPr wrap="square" lIns="0" tIns="0" rIns="0" bIns="0" rtlCol="0" anchor="t"/>
          <a:lstStyle/>
          <a:p>
            <a:pPr indent="0" marL="0">
              <a:buNone/>
            </a:pPr>
            <a:r>
              <a:rPr lang="en-US" sz="1700" dirty="0">
                <a:solidFill>
                  <a:srgbClr val="1C1917"/>
                </a:solidFill>
                <a:latin typeface="Calibri" pitchFamily="34" charset="0"/>
                <a:ea typeface="Calibri" pitchFamily="34" charset="-122"/>
                <a:cs typeface="Calibri" pitchFamily="34" charset="-120"/>
              </a:rPr>
              <a:t>Validasi kali ini memakai foto dari Open Food Facts. Berikutnya kami foto sendiri di minimarket, termasuk huruf yang lengkung atau mengkilap, lalu kalimat yang salah dipilah ditambahkan ke data latih Create ML.</a:t>
            </a:r>
            <a:endParaRPr lang="en-US" sz="1700" dirty="0"/>
          </a:p>
        </p:txBody>
      </p:sp>
      <p:sp>
        <p:nvSpPr>
          <p:cNvPr id="7" name="Shape 5"/>
          <p:cNvSpPr/>
          <p:nvPr/>
        </p:nvSpPr>
        <p:spPr>
          <a:xfrm>
            <a:off x="7726680" y="1143000"/>
            <a:ext cx="3977640" cy="3566160"/>
          </a:xfrm>
          <a:prstGeom prst="roundRect">
            <a:avLst>
              <a:gd name="adj" fmla="val 3077"/>
            </a:avLst>
          </a:prstGeom>
          <a:solidFill>
            <a:srgbClr val="FDF0CC"/>
          </a:solidFill>
          <a:ln w="9525">
            <a:solidFill>
              <a:srgbClr val="E4DDD4"/>
            </a:solidFill>
            <a:prstDash val="solid"/>
          </a:ln>
        </p:spPr>
      </p:sp>
      <p:sp>
        <p:nvSpPr>
          <p:cNvPr id="8" name="Text 6"/>
          <p:cNvSpPr/>
          <p:nvPr/>
        </p:nvSpPr>
        <p:spPr>
          <a:xfrm>
            <a:off x="8001000" y="1463040"/>
            <a:ext cx="3474720" cy="274320"/>
          </a:xfrm>
          <a:prstGeom prst="rect">
            <a:avLst/>
          </a:prstGeom>
          <a:noFill/>
          <a:ln/>
        </p:spPr>
        <p:txBody>
          <a:bodyPr wrap="square" lIns="0" tIns="0" rIns="0" bIns="0" rtlCol="0" anchor="ctr"/>
          <a:lstStyle/>
          <a:p>
            <a:pPr indent="0" marL="0">
              <a:buNone/>
            </a:pPr>
            <a:r>
              <a:rPr lang="en-US" sz="1200" b="1" spc="100" kern="0" dirty="0">
                <a:solidFill>
                  <a:srgbClr val="1C1917"/>
                </a:solidFill>
                <a:latin typeface="Calibri" pitchFamily="34" charset="0"/>
                <a:ea typeface="Calibri" pitchFamily="34" charset="-122"/>
                <a:cs typeface="Calibri" pitchFamily="34" charset="-120"/>
              </a:rPr>
              <a:t>KENAPA INI</a:t>
            </a:r>
            <a:endParaRPr lang="en-US" sz="1200" dirty="0"/>
          </a:p>
        </p:txBody>
      </p:sp>
      <p:sp>
        <p:nvSpPr>
          <p:cNvPr id="9" name="Text 7"/>
          <p:cNvSpPr/>
          <p:nvPr/>
        </p:nvSpPr>
        <p:spPr>
          <a:xfrm>
            <a:off x="8001000" y="1828800"/>
            <a:ext cx="3474720" cy="3200400"/>
          </a:xfrm>
          <a:prstGeom prst="rect">
            <a:avLst/>
          </a:prstGeom>
          <a:noFill/>
          <a:ln/>
        </p:spPr>
        <p:txBody>
          <a:bodyPr wrap="square" lIns="0" tIns="0" rIns="0" bIns="0" rtlCol="0" anchor="t"/>
          <a:lstStyle/>
          <a:p>
            <a:pPr indent="0" marL="0">
              <a:buNone/>
            </a:pPr>
            <a:r>
              <a:rPr lang="en-US" sz="1600" dirty="0">
                <a:solidFill>
                  <a:srgbClr val="1C1917"/>
                </a:solidFill>
                <a:latin typeface="Calibri" pitchFamily="34" charset="0"/>
                <a:ea typeface="Calibri" pitchFamily="34" charset="-122"/>
                <a:cs typeface="Calibri" pitchFamily="34" charset="-120"/>
              </a:rPr>
              <a:t>Data latih dan uji sekarang berasal dari foto Open Food Facts. Kamera iPhone di rak toko memberi sudut, cahaya, dan pantulan yang belum pernah dilihat model.</a:t>
            </a:r>
            <a:endParaRPr lang="en-US" sz="1600" dirty="0"/>
          </a:p>
        </p:txBody>
      </p:sp>
      <p:sp>
        <p:nvSpPr>
          <p:cNvPr id="10" name="Text 8"/>
          <p:cNvSpPr/>
          <p:nvPr/>
        </p:nvSpPr>
        <p:spPr>
          <a:xfrm>
            <a:off x="502920" y="6446520"/>
            <a:ext cx="7315200" cy="228600"/>
          </a:xfrm>
          <a:prstGeom prst="rect">
            <a:avLst/>
          </a:prstGeom>
          <a:noFill/>
          <a:ln/>
        </p:spPr>
        <p:txBody>
          <a:bodyPr wrap="square" lIns="0" tIns="0" rIns="0" bIns="0" rtlCol="0" anchor="ctr"/>
          <a:lstStyle/>
          <a:p>
            <a:pPr indent="0" marL="0">
              <a:buNone/>
            </a:pPr>
            <a:r>
              <a:rPr lang="en-US" sz="1100" dirty="0">
                <a:solidFill>
                  <a:srgbClr val="6B6560"/>
                </a:solidFill>
                <a:latin typeface="Calibri" pitchFamily="34" charset="0"/>
                <a:ea typeface="Calibri" pitchFamily="34" charset="-122"/>
                <a:cs typeface="Calibri" pitchFamily="34" charset="-120"/>
              </a:rPr>
              <a:t>Grup 5  ·  ScanBite  ·  Jalur Tim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ScanBite</dc:title>
  <dc:subject>Challenge Day 3 · Jalur Tim</dc:subject>
  <dc:creator>Grup 5</dc:creator>
  <cp:lastModifiedBy>Grup 5</cp:lastModifiedBy>
  <cp:revision>1</cp:revision>
  <dcterms:created xsi:type="dcterms:W3CDTF">2026-10-17T05:00:17Z</dcterms:created>
  <dcterms:modified xsi:type="dcterms:W3CDTF">2026-10-17T05:00:17Z</dcterms:modified>
</cp:coreProperties>
</file>